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handoutMasterIdLst>
    <p:handoutMasterId r:id="rId17"/>
  </p:handoutMasterIdLst>
  <p:sldIdLst>
    <p:sldId id="256" r:id="rId2"/>
    <p:sldId id="263" r:id="rId3"/>
    <p:sldId id="260" r:id="rId4"/>
    <p:sldId id="261" r:id="rId5"/>
    <p:sldId id="265" r:id="rId6"/>
    <p:sldId id="266" r:id="rId7"/>
    <p:sldId id="264" r:id="rId8"/>
    <p:sldId id="267" r:id="rId9"/>
    <p:sldId id="268" r:id="rId10"/>
    <p:sldId id="269" r:id="rId11"/>
    <p:sldId id="270" r:id="rId12"/>
    <p:sldId id="271" r:id="rId13"/>
    <p:sldId id="259" r:id="rId14"/>
    <p:sldId id="272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1" d="100"/>
          <a:sy n="91" d="100"/>
        </p:scale>
        <p:origin x="76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72" d="100"/>
          <a:sy n="72" d="100"/>
        </p:scale>
        <p:origin x="3524" y="76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handoutMaster" Target="handoutMasters/handout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93D0DC3-7510-C24B-49F8-5FEE88D2A26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D376EFC-5D12-86CC-37A8-82C955BB937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1C3C7D0-0BB9-43FF-81B9-26B5DC9B1C46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8530011-0074-0D38-6CDD-2C59CE17985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18B97D7-4109-2B54-A8DA-947C09ECE53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7A949F9-CC76-4A9D-90AC-DFED19E2CC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507465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3E76254-61BA-4BF6-AD46-766C190D2F5C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2FC43EE-9E13-4280-9F20-7CE81C2E48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45458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FC43EE-9E13-4280-9F20-7CE81C2E48B1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5079856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41D039-315C-9CF0-D269-35866BAA3C5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1667D26-A1F3-070E-1C4F-1A2070420DC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00BAB7-B621-72FB-8B36-AB26AEAC9C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D7D5F-5A8C-49CC-B44A-EB562F6705D8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6AC8B8-9861-1FC5-0DE1-283C93AA93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560795-8080-2AE3-1217-BE59A4063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0A6153-F061-4EC7-8468-A4A0ACC0A4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9814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5E4746-F375-E7E4-60EB-75BB2E8E2B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81AC4F-75FE-CE95-01C3-7DB921AC65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7A9FD0-7D6B-46DA-645F-AD9B35D264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D7D5F-5A8C-49CC-B44A-EB562F6705D8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E9635F-074F-001A-8DE4-785499FC6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4057A3-6085-FF0D-DD11-DBCA195953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0A6153-F061-4EC7-8468-A4A0ACC0A4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61568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098931-CB2C-5227-2474-61DD2F224C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CFB9C0-900A-560A-6F7A-D180A46F9D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8C0B63-CD1A-F20B-9D30-314276F51C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D7D5F-5A8C-49CC-B44A-EB562F6705D8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EE7AC8-CA0D-9F1C-9E87-BF523D3AAC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CEC6AF-5674-77DD-6EDE-87B7442FA3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0A6153-F061-4EC7-8468-A4A0ACC0A4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25986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D42842-F3B9-C400-F8A9-03C2051FF2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C804B5-7745-7049-4175-7CF091842D1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DEBD471-DC91-07EE-A12D-E86E91BBE65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A68D634-5B7B-BCA9-A683-3C024BEA9A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D7D5F-5A8C-49CC-B44A-EB562F6705D8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AF0F39B-F125-F3BA-F3F2-19D64D2C41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D281CC-EE6C-B361-759F-CE7DAC0EE3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0A6153-F061-4EC7-8468-A4A0ACC0A4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83404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1691F6-A92D-B3C2-E491-250F87A4A5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ABEEC3-722A-FD87-5FED-B730F49CE6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9AC568B-A0A0-4FEE-AB28-0BDB548CCC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D3245F9-867E-C7E1-7E3E-399BC89F8F1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62CA553-4AA3-5940-64BE-06D35E3C670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DB6C6D8-EE6E-2D21-47A9-4C87285D5E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D7D5F-5A8C-49CC-B44A-EB562F6705D8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7913936-CFB0-A27B-486A-A1FC229545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DB8A8F5-F056-2C49-E3DC-89E55D6F6E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0A6153-F061-4EC7-8468-A4A0ACC0A4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71283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CF6B40-47C2-CAED-9F99-1C17AC42E3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2718F40-BFE0-3596-82C9-03B39F105D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D7D5F-5A8C-49CC-B44A-EB562F6705D8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CBE1CEB-1E8B-E4FB-8813-B80DC83CA9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C87190F-6DA9-7C7E-0A96-26D05DA814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0A6153-F061-4EC7-8468-A4A0ACC0A4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92930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67B3FF5-01DD-4142-BD84-5C30697793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D7D5F-5A8C-49CC-B44A-EB562F6705D8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27CCDF0-5C5E-905E-0C58-27B12D08A2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BFC881-680F-6097-6202-F65E324AC1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0A6153-F061-4EC7-8468-A4A0ACC0A4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04718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3FBF9E-6A14-935E-C145-453F63D074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EA5632-F726-06F8-EAD0-63723C023E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06FCC30-1061-5935-C4E1-159DC76D30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BC5BC8-C7EB-FDF3-FFA9-4F6C6BF4E6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D7D5F-5A8C-49CC-B44A-EB562F6705D8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774D22-899D-3218-F918-C8530C0A0B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03ABF6-2889-71A4-81A6-39F0F0CAD2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0A6153-F061-4EC7-8468-A4A0ACC0A4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29472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E59B1B-2CD7-2E5A-2D13-6A55EA8187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2E4091D-2821-AA04-CBD9-276F7106146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F4B51C3-D474-75BA-E902-8A4C6619660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89F0F47-A9E8-7E17-EFCA-093BA76341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D7D5F-5A8C-49CC-B44A-EB562F6705D8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804225F-7E8B-51A7-1AEB-ADE70B4B25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A606CB-EA12-205E-53AD-3A22E4A560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0A6153-F061-4EC7-8468-A4A0ACC0A4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0114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ADCAD5-5EF1-50C9-1843-D4BC8347D1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76734FE-3031-535F-16AC-8F0A1AFC711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27AD90-90EE-9890-1BED-372A15FD30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D7D5F-5A8C-49CC-B44A-EB562F6705D8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C5E5E1-D3BE-E5AF-2BCF-63B91F9D1E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682084-D862-C8A5-D71D-B753C8F325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0A6153-F061-4EC7-8468-A4A0ACC0A4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37691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8FD2BCD-01C8-66F8-E127-3D1F45169D3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8AFF84C-331F-9588-2AE4-651E6A9AEFA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546D30-75A2-0597-C861-1CA07FFB5D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D7D5F-5A8C-49CC-B44A-EB562F6705D8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2124EE-3D3B-FC79-7864-63CA5ABD05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747112-AF8E-4237-A01F-7E22B77A76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0A6153-F061-4EC7-8468-A4A0ACC0A4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38874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06925E0-1C3A-549C-9DF6-AD7D7AC727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075DAC-3A99-6D8A-E774-4C9E91F32D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06ECFB-B675-7019-8104-F02047DDF2C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07D7D5F-5A8C-49CC-B44A-EB562F6705D8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FFC0C1-B664-8AC8-D50D-28FDBB688DF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69C274-E1F1-7A55-1F62-503AC3562E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0A6153-F061-4EC7-8468-A4A0ACC0A4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29749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codimd.web.cern.ch/s/ZGBpyi9gT" TargetMode="Externa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097A4A-FE26-CE6C-6CAA-047609D493D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Jac Agent Comparison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6C5463F-E834-ECF8-7833-A826C792896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2541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B85B85-5B8A-DCF7-AAAA-8FDE96E4F5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Experiment setup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A82A87-50B5-A305-D00C-66E9315448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5 Applications: </a:t>
            </a:r>
            <a:r>
              <a:rPr lang="en-US" dirty="0" err="1"/>
              <a:t>MeetingAssistant</a:t>
            </a:r>
            <a:r>
              <a:rPr lang="en-US" dirty="0"/>
              <a:t>, </a:t>
            </a:r>
            <a:r>
              <a:rPr lang="en-US" dirty="0" err="1"/>
              <a:t>EmailAutoResponse</a:t>
            </a:r>
            <a:r>
              <a:rPr lang="en-US" dirty="0"/>
              <a:t>, </a:t>
            </a:r>
            <a:r>
              <a:rPr lang="en-US" dirty="0" err="1"/>
              <a:t>YTNavigator</a:t>
            </a:r>
            <a:r>
              <a:rPr lang="en-US" dirty="0"/>
              <a:t>, Code Agent, </a:t>
            </a:r>
            <a:r>
              <a:rPr lang="en-US" dirty="0" err="1"/>
              <a:t>FactCheck</a:t>
            </a:r>
            <a:endParaRPr lang="en-US" dirty="0"/>
          </a:p>
          <a:p>
            <a:r>
              <a:rPr lang="en-US" dirty="0"/>
              <a:t>4 </a:t>
            </a:r>
            <a:r>
              <a:rPr lang="en-US" altLang="zh-CN" dirty="0"/>
              <a:t>Frameworks: Jac, </a:t>
            </a:r>
            <a:r>
              <a:rPr lang="en-US" altLang="zh-CN" dirty="0" err="1"/>
              <a:t>Langgraph</a:t>
            </a:r>
            <a:r>
              <a:rPr lang="en-US" altLang="zh-CN" dirty="0"/>
              <a:t>, </a:t>
            </a:r>
            <a:r>
              <a:rPr lang="en-US" altLang="zh-CN" dirty="0" err="1"/>
              <a:t>CrewAI</a:t>
            </a:r>
            <a:r>
              <a:rPr lang="en-US" altLang="zh-CN" dirty="0"/>
              <a:t>, Nvidia NOOA. </a:t>
            </a:r>
          </a:p>
          <a:p>
            <a:r>
              <a:rPr lang="en-US" dirty="0"/>
              <a:t>Baseline</a:t>
            </a:r>
            <a:r>
              <a:rPr lang="en-US" altLang="zh-CN" dirty="0"/>
              <a:t>: Prompt Engineering with </a:t>
            </a:r>
            <a:r>
              <a:rPr lang="en-US" altLang="zh-CN" dirty="0" err="1"/>
              <a:t>openai</a:t>
            </a:r>
            <a:r>
              <a:rPr lang="en-US" altLang="zh-CN" dirty="0"/>
              <a:t> SDK, with manually written workflow control</a:t>
            </a:r>
          </a:p>
          <a:p>
            <a:r>
              <a:rPr lang="en-US" dirty="0"/>
              <a:t>Model: muse-glimmer and GLM 5.2</a:t>
            </a:r>
          </a:p>
        </p:txBody>
      </p:sp>
    </p:spTree>
    <p:extLst>
      <p:ext uri="{BB962C8B-B14F-4D97-AF65-F5344CB8AC3E}">
        <p14:creationId xmlns:p14="http://schemas.microsoft.com/office/powerpoint/2010/main" val="11018647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619D27-00D5-9B98-6FCA-0328B2157C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 applications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2A2F78-BE48-AB5C-76D2-E2A1AE9C32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MeetingAssistant</a:t>
            </a:r>
            <a:r>
              <a:rPr lang="en-US" dirty="0"/>
              <a:t>: A pipeline to process meet notifications and save the events to calendar.</a:t>
            </a:r>
          </a:p>
          <a:p>
            <a:r>
              <a:rPr lang="en-US" dirty="0" err="1"/>
              <a:t>EmailAutoResponse</a:t>
            </a:r>
            <a:r>
              <a:rPr lang="en-US" dirty="0"/>
              <a:t>: Read inbox, decide the category of each email, compose and send reply.</a:t>
            </a:r>
          </a:p>
          <a:p>
            <a:r>
              <a:rPr lang="en-US" dirty="0" err="1"/>
              <a:t>YTNavigator</a:t>
            </a:r>
            <a:r>
              <a:rPr lang="en-US" dirty="0"/>
              <a:t>: Retrieve data on </a:t>
            </a:r>
            <a:r>
              <a:rPr lang="en-US" dirty="0" err="1"/>
              <a:t>Youtube</a:t>
            </a:r>
            <a:r>
              <a:rPr lang="en-US" dirty="0"/>
              <a:t> channels, and answer users’ query based on it.</a:t>
            </a:r>
          </a:p>
          <a:p>
            <a:r>
              <a:rPr lang="en-US" dirty="0"/>
              <a:t>Code Agent: 5 phase code agent. 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EAE5FB5C-9E73-6117-4D68-6E4D78AE5030}"/>
              </a:ext>
            </a:extLst>
          </p:cNvPr>
          <p:cNvSpPr/>
          <p:nvPr/>
        </p:nvSpPr>
        <p:spPr>
          <a:xfrm>
            <a:off x="4945438" y="6290959"/>
            <a:ext cx="1572861" cy="418809"/>
          </a:xfrm>
          <a:prstGeom prst="ellipse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Finish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F8F3F5C9-BDC4-A056-CAD5-086AD0ECA687}"/>
              </a:ext>
            </a:extLst>
          </p:cNvPr>
          <p:cNvSpPr/>
          <p:nvPr/>
        </p:nvSpPr>
        <p:spPr>
          <a:xfrm>
            <a:off x="1517020" y="5218108"/>
            <a:ext cx="1572861" cy="418809"/>
          </a:xfrm>
          <a:prstGeom prst="ellipse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Plan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2ED6504E-AC99-977C-D81D-167F68DD8FC4}"/>
              </a:ext>
            </a:extLst>
          </p:cNvPr>
          <p:cNvSpPr/>
          <p:nvPr/>
        </p:nvSpPr>
        <p:spPr>
          <a:xfrm>
            <a:off x="3806510" y="5218108"/>
            <a:ext cx="1572861" cy="418809"/>
          </a:xfrm>
          <a:prstGeom prst="ellipse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Explore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F91A4CA2-6DB9-5FB1-89D6-B1018873FCDE}"/>
              </a:ext>
            </a:extLst>
          </p:cNvPr>
          <p:cNvSpPr/>
          <p:nvPr/>
        </p:nvSpPr>
        <p:spPr>
          <a:xfrm>
            <a:off x="6096000" y="5218107"/>
            <a:ext cx="1572861" cy="418809"/>
          </a:xfrm>
          <a:prstGeom prst="ellipse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Edit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A4783355-277C-2467-83C8-A50CE950B894}"/>
              </a:ext>
            </a:extLst>
          </p:cNvPr>
          <p:cNvSpPr/>
          <p:nvPr/>
        </p:nvSpPr>
        <p:spPr>
          <a:xfrm>
            <a:off x="8293585" y="5218107"/>
            <a:ext cx="1572861" cy="418809"/>
          </a:xfrm>
          <a:prstGeom prst="ellipse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Verify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04B8DFF3-AC3F-0933-BAAD-310398580DC1}"/>
              </a:ext>
            </a:extLst>
          </p:cNvPr>
          <p:cNvCxnSpPr>
            <a:cxnSpLocks/>
            <a:stCxn id="7" idx="6"/>
            <a:endCxn id="9" idx="2"/>
          </p:cNvCxnSpPr>
          <p:nvPr/>
        </p:nvCxnSpPr>
        <p:spPr>
          <a:xfrm>
            <a:off x="3089881" y="5427513"/>
            <a:ext cx="71662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E5E48411-40A0-22FA-7685-F08F0DC2B96F}"/>
              </a:ext>
            </a:extLst>
          </p:cNvPr>
          <p:cNvCxnSpPr>
            <a:cxnSpLocks/>
            <a:stCxn id="9" idx="6"/>
            <a:endCxn id="12" idx="2"/>
          </p:cNvCxnSpPr>
          <p:nvPr/>
        </p:nvCxnSpPr>
        <p:spPr>
          <a:xfrm flipV="1">
            <a:off x="5379371" y="5427512"/>
            <a:ext cx="716629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91085ECF-99C1-1DC9-6F9B-247229F90DAA}"/>
              </a:ext>
            </a:extLst>
          </p:cNvPr>
          <p:cNvCxnSpPr>
            <a:cxnSpLocks/>
            <a:stCxn id="12" idx="6"/>
            <a:endCxn id="14" idx="2"/>
          </p:cNvCxnSpPr>
          <p:nvPr/>
        </p:nvCxnSpPr>
        <p:spPr>
          <a:xfrm>
            <a:off x="7668861" y="5427512"/>
            <a:ext cx="62472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nector: Elbow 21">
            <a:extLst>
              <a:ext uri="{FF2B5EF4-FFF2-40B4-BE49-F238E27FC236}">
                <a16:creationId xmlns:a16="http://schemas.microsoft.com/office/drawing/2014/main" id="{79DBA320-81AB-1C12-059B-B0A40C6E7985}"/>
              </a:ext>
            </a:extLst>
          </p:cNvPr>
          <p:cNvCxnSpPr>
            <a:cxnSpLocks/>
            <a:stCxn id="7" idx="4"/>
            <a:endCxn id="5" idx="2"/>
          </p:cNvCxnSpPr>
          <p:nvPr/>
        </p:nvCxnSpPr>
        <p:spPr>
          <a:xfrm rot="16200000" flipH="1">
            <a:off x="3192721" y="4747646"/>
            <a:ext cx="863447" cy="2641987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nector: Elbow 26">
            <a:extLst>
              <a:ext uri="{FF2B5EF4-FFF2-40B4-BE49-F238E27FC236}">
                <a16:creationId xmlns:a16="http://schemas.microsoft.com/office/drawing/2014/main" id="{E46D4825-CA3A-E5D0-63D8-FC24CD7ED391}"/>
              </a:ext>
            </a:extLst>
          </p:cNvPr>
          <p:cNvCxnSpPr>
            <a:cxnSpLocks/>
            <a:stCxn id="14" idx="0"/>
            <a:endCxn id="12" idx="0"/>
          </p:cNvCxnSpPr>
          <p:nvPr/>
        </p:nvCxnSpPr>
        <p:spPr>
          <a:xfrm rot="16200000" flipV="1">
            <a:off x="7981224" y="4119314"/>
            <a:ext cx="12700" cy="2197585"/>
          </a:xfrm>
          <a:prstGeom prst="bentConnector3">
            <a:avLst>
              <a:gd name="adj1" fmla="val 180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nector: Elbow 30">
            <a:extLst>
              <a:ext uri="{FF2B5EF4-FFF2-40B4-BE49-F238E27FC236}">
                <a16:creationId xmlns:a16="http://schemas.microsoft.com/office/drawing/2014/main" id="{4991137A-95BF-BB92-C931-816FC7448F59}"/>
              </a:ext>
            </a:extLst>
          </p:cNvPr>
          <p:cNvCxnSpPr>
            <a:cxnSpLocks/>
            <a:stCxn id="14" idx="4"/>
            <a:endCxn id="5" idx="6"/>
          </p:cNvCxnSpPr>
          <p:nvPr/>
        </p:nvCxnSpPr>
        <p:spPr>
          <a:xfrm rot="5400000">
            <a:off x="7394192" y="4814538"/>
            <a:ext cx="863447" cy="2508202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Connector: Elbow 3">
            <a:extLst>
              <a:ext uri="{FF2B5EF4-FFF2-40B4-BE49-F238E27FC236}">
                <a16:creationId xmlns:a16="http://schemas.microsoft.com/office/drawing/2014/main" id="{1EBA9DAC-84E8-7202-C5A0-760FDBFE6706}"/>
              </a:ext>
            </a:extLst>
          </p:cNvPr>
          <p:cNvCxnSpPr>
            <a:cxnSpLocks/>
            <a:stCxn id="14" idx="0"/>
            <a:endCxn id="9" idx="0"/>
          </p:cNvCxnSpPr>
          <p:nvPr/>
        </p:nvCxnSpPr>
        <p:spPr>
          <a:xfrm rot="16200000" flipH="1" flipV="1">
            <a:off x="6836478" y="2974569"/>
            <a:ext cx="1" cy="4487075"/>
          </a:xfrm>
          <a:prstGeom prst="bentConnector3">
            <a:avLst>
              <a:gd name="adj1" fmla="val -2286000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638441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AE6349-89AD-3839-F0AE-893AB6050E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Code Agent</a:t>
            </a:r>
            <a:r>
              <a:rPr lang="en-US" altLang="zh-CN" dirty="0"/>
              <a:t>: GLM5.2</a:t>
            </a:r>
            <a:endParaRPr lang="en-US" dirty="0"/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738B2946-8C0A-CAB0-B1AB-FBC00789D3E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20935889"/>
              </p:ext>
            </p:extLst>
          </p:nvPr>
        </p:nvGraphicFramePr>
        <p:xfrm>
          <a:off x="1724874" y="1801590"/>
          <a:ext cx="8598772" cy="38345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9693">
                  <a:extLst>
                    <a:ext uri="{9D8B030D-6E8A-4147-A177-3AD203B41FA5}">
                      <a16:colId xmlns:a16="http://schemas.microsoft.com/office/drawing/2014/main" val="2209783406"/>
                    </a:ext>
                  </a:extLst>
                </a:gridCol>
                <a:gridCol w="2149693">
                  <a:extLst>
                    <a:ext uri="{9D8B030D-6E8A-4147-A177-3AD203B41FA5}">
                      <a16:colId xmlns:a16="http://schemas.microsoft.com/office/drawing/2014/main" val="2091479726"/>
                    </a:ext>
                  </a:extLst>
                </a:gridCol>
                <a:gridCol w="2149693">
                  <a:extLst>
                    <a:ext uri="{9D8B030D-6E8A-4147-A177-3AD203B41FA5}">
                      <a16:colId xmlns:a16="http://schemas.microsoft.com/office/drawing/2014/main" val="2236303871"/>
                    </a:ext>
                  </a:extLst>
                </a:gridCol>
                <a:gridCol w="2149693">
                  <a:extLst>
                    <a:ext uri="{9D8B030D-6E8A-4147-A177-3AD203B41FA5}">
                      <a16:colId xmlns:a16="http://schemas.microsoft.com/office/drawing/2014/main" val="4064963459"/>
                    </a:ext>
                  </a:extLst>
                </a:gridCol>
              </a:tblGrid>
              <a:tr h="759298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Pass Rate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Medium token usage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Token/instance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05284188"/>
                  </a:ext>
                </a:extLst>
              </a:tr>
              <a:tr h="759298">
                <a:tc>
                  <a:txBody>
                    <a:bodyPr/>
                    <a:lstStyle/>
                    <a:p>
                      <a:r>
                        <a:rPr lang="en-US"/>
                        <a:t>byLLM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100%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81,135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149,494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1054921"/>
                  </a:ext>
                </a:extLst>
              </a:tr>
              <a:tr h="759298">
                <a:tc>
                  <a:txBody>
                    <a:bodyPr/>
                    <a:lstStyle/>
                    <a:p>
                      <a:r>
                        <a:rPr lang="en-US"/>
                        <a:t>LangGraph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100%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89,213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169,572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25613890"/>
                  </a:ext>
                </a:extLst>
              </a:tr>
              <a:tr h="797316">
                <a:tc>
                  <a:txBody>
                    <a:bodyPr/>
                    <a:lstStyle/>
                    <a:p>
                      <a:r>
                        <a:rPr lang="en-US"/>
                        <a:t>Openai </a:t>
                      </a:r>
                      <a:r>
                        <a:rPr lang="en-US" altLang="zh-CN"/>
                        <a:t>SDK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100%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101,040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105,849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19247169"/>
                  </a:ext>
                </a:extLst>
              </a:tr>
              <a:tr h="759298">
                <a:tc>
                  <a:txBody>
                    <a:bodyPr/>
                    <a:lstStyle/>
                    <a:p>
                      <a:r>
                        <a:rPr lang="en-US" dirty="0"/>
                        <a:t>NOOA      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100%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127,150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137,370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9339471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A53AB4E4-9393-127F-4A50-F66F03DCF820}"/>
              </a:ext>
            </a:extLst>
          </p:cNvPr>
          <p:cNvSpPr txBox="1"/>
          <p:nvPr/>
        </p:nvSpPr>
        <p:spPr>
          <a:xfrm>
            <a:off x="743387" y="5898230"/>
            <a:ext cx="1072849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Report medium here because code agent’s token usage varies with the difficulty of testcases, mean token per </a:t>
            </a:r>
          </a:p>
          <a:p>
            <a:r>
              <a:rPr lang="en-US" dirty="0"/>
              <a:t>instance will be affected by extreme value</a:t>
            </a:r>
          </a:p>
        </p:txBody>
      </p:sp>
    </p:spTree>
    <p:extLst>
      <p:ext uri="{BB962C8B-B14F-4D97-AF65-F5344CB8AC3E}">
        <p14:creationId xmlns:p14="http://schemas.microsoft.com/office/powerpoint/2010/main" val="38973126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9E527B-8DB8-6E6E-9D44-9A105707E2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Meeting </a:t>
            </a:r>
            <a:r>
              <a:rPr lang="en-US" dirty="0" err="1"/>
              <a:t>Assitant</a:t>
            </a:r>
            <a:endParaRPr lang="en-US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D6E19178-D82A-A508-86A1-92847A7647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59335579"/>
              </p:ext>
            </p:extLst>
          </p:nvPr>
        </p:nvGraphicFramePr>
        <p:xfrm>
          <a:off x="957138" y="1873396"/>
          <a:ext cx="9834260" cy="45449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58565">
                  <a:extLst>
                    <a:ext uri="{9D8B030D-6E8A-4147-A177-3AD203B41FA5}">
                      <a16:colId xmlns:a16="http://schemas.microsoft.com/office/drawing/2014/main" val="2209783406"/>
                    </a:ext>
                  </a:extLst>
                </a:gridCol>
                <a:gridCol w="2458565">
                  <a:extLst>
                    <a:ext uri="{9D8B030D-6E8A-4147-A177-3AD203B41FA5}">
                      <a16:colId xmlns:a16="http://schemas.microsoft.com/office/drawing/2014/main" val="2091479726"/>
                    </a:ext>
                  </a:extLst>
                </a:gridCol>
                <a:gridCol w="2458565">
                  <a:extLst>
                    <a:ext uri="{9D8B030D-6E8A-4147-A177-3AD203B41FA5}">
                      <a16:colId xmlns:a16="http://schemas.microsoft.com/office/drawing/2014/main" val="2236303871"/>
                    </a:ext>
                  </a:extLst>
                </a:gridCol>
                <a:gridCol w="2458565">
                  <a:extLst>
                    <a:ext uri="{9D8B030D-6E8A-4147-A177-3AD203B41FA5}">
                      <a16:colId xmlns:a16="http://schemas.microsoft.com/office/drawing/2014/main" val="3998035060"/>
                    </a:ext>
                  </a:extLst>
                </a:gridCol>
              </a:tblGrid>
              <a:tr h="908987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Score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Medium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Avg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05284188"/>
                  </a:ext>
                </a:extLst>
              </a:tr>
              <a:tr h="908987">
                <a:tc>
                  <a:txBody>
                    <a:bodyPr/>
                    <a:lstStyle/>
                    <a:p>
                      <a:r>
                        <a:rPr lang="en-US" dirty="0" err="1"/>
                        <a:t>byLLM</a:t>
                      </a:r>
                      <a:endParaRPr lang="en-US" dirty="0"/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F1=0.984</a:t>
                      </a:r>
                    </a:p>
                    <a:p>
                      <a:r>
                        <a:rPr lang="en-US" dirty="0"/>
                        <a:t>Overall 4.67/5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1,498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1,788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1054921"/>
                  </a:ext>
                </a:extLst>
              </a:tr>
              <a:tr h="908987">
                <a:tc>
                  <a:txBody>
                    <a:bodyPr/>
                    <a:lstStyle/>
                    <a:p>
                      <a:r>
                        <a:rPr lang="en-US" dirty="0" err="1"/>
                        <a:t>LangGraph</a:t>
                      </a:r>
                      <a:r>
                        <a:rPr lang="en-US" dirty="0"/>
                        <a:t>/Crew AI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F1=0.986</a:t>
                      </a:r>
                    </a:p>
                    <a:p>
                      <a:r>
                        <a:rPr lang="en-US" dirty="0"/>
                        <a:t>Overall 4.90/5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2,240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2,343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25613890"/>
                  </a:ext>
                </a:extLst>
              </a:tr>
              <a:tr h="908987">
                <a:tc>
                  <a:txBody>
                    <a:bodyPr/>
                    <a:lstStyle/>
                    <a:p>
                      <a:r>
                        <a:rPr lang="en-US" dirty="0" err="1"/>
                        <a:t>Openai</a:t>
                      </a:r>
                      <a:r>
                        <a:rPr lang="en-US" dirty="0"/>
                        <a:t> </a:t>
                      </a:r>
                      <a:r>
                        <a:rPr lang="en-US" altLang="zh-CN" dirty="0"/>
                        <a:t>SDK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F1=0.991</a:t>
                      </a:r>
                    </a:p>
                    <a:p>
                      <a:r>
                        <a:rPr lang="en-US" altLang="zh-CN" dirty="0"/>
                        <a:t>Overall 4.83/5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1,414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1,568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19247169"/>
                  </a:ext>
                </a:extLst>
              </a:tr>
              <a:tr h="908987">
                <a:tc>
                  <a:txBody>
                    <a:bodyPr/>
                    <a:lstStyle/>
                    <a:p>
                      <a:r>
                        <a:rPr lang="en-US" dirty="0" err="1"/>
                        <a:t>NOOA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F1=0.992</a:t>
                      </a:r>
                    </a:p>
                    <a:p>
                      <a:r>
                        <a:rPr lang="en-US" dirty="0"/>
                        <a:t>Overall 4.90/5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2,061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2,335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1924716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94468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171E64-FDE9-1C95-F513-84A32F137A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YTNavigator</a:t>
            </a:r>
            <a:endParaRPr lang="en-US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FDFA3F97-0C53-9F57-EF57-FF7C0CA7482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55547527"/>
              </p:ext>
            </p:extLst>
          </p:nvPr>
        </p:nvGraphicFramePr>
        <p:xfrm>
          <a:off x="1131561" y="1815549"/>
          <a:ext cx="9834260" cy="45449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58565">
                  <a:extLst>
                    <a:ext uri="{9D8B030D-6E8A-4147-A177-3AD203B41FA5}">
                      <a16:colId xmlns:a16="http://schemas.microsoft.com/office/drawing/2014/main" val="2209783406"/>
                    </a:ext>
                  </a:extLst>
                </a:gridCol>
                <a:gridCol w="2458565">
                  <a:extLst>
                    <a:ext uri="{9D8B030D-6E8A-4147-A177-3AD203B41FA5}">
                      <a16:colId xmlns:a16="http://schemas.microsoft.com/office/drawing/2014/main" val="2091479726"/>
                    </a:ext>
                  </a:extLst>
                </a:gridCol>
                <a:gridCol w="2458565">
                  <a:extLst>
                    <a:ext uri="{9D8B030D-6E8A-4147-A177-3AD203B41FA5}">
                      <a16:colId xmlns:a16="http://schemas.microsoft.com/office/drawing/2014/main" val="2236303871"/>
                    </a:ext>
                  </a:extLst>
                </a:gridCol>
                <a:gridCol w="2458565">
                  <a:extLst>
                    <a:ext uri="{9D8B030D-6E8A-4147-A177-3AD203B41FA5}">
                      <a16:colId xmlns:a16="http://schemas.microsoft.com/office/drawing/2014/main" val="2537122819"/>
                    </a:ext>
                  </a:extLst>
                </a:gridCol>
              </a:tblGrid>
              <a:tr h="908987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Score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Median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Mean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05284188"/>
                  </a:ext>
                </a:extLst>
              </a:tr>
              <a:tr h="908987">
                <a:tc>
                  <a:txBody>
                    <a:bodyPr/>
                    <a:lstStyle/>
                    <a:p>
                      <a:r>
                        <a:rPr lang="en-US" dirty="0" err="1"/>
                        <a:t>byLLM</a:t>
                      </a:r>
                      <a:endParaRPr lang="en-US" dirty="0"/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judge 4.87/5, retrieval hit 1.000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6,151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6,441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1054921"/>
                  </a:ext>
                </a:extLst>
              </a:tr>
              <a:tr h="908987">
                <a:tc>
                  <a:txBody>
                    <a:bodyPr/>
                    <a:lstStyle/>
                    <a:p>
                      <a:r>
                        <a:rPr lang="en-US" dirty="0" err="1"/>
                        <a:t>LangGraph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judge 4.78/5, retrieval hit 1.000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6,311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5,957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25613890"/>
                  </a:ext>
                </a:extLst>
              </a:tr>
              <a:tr h="908987">
                <a:tc>
                  <a:txBody>
                    <a:bodyPr/>
                    <a:lstStyle/>
                    <a:p>
                      <a:r>
                        <a:rPr lang="en-US" dirty="0" err="1"/>
                        <a:t>Openai</a:t>
                      </a:r>
                      <a:r>
                        <a:rPr lang="en-US" dirty="0"/>
                        <a:t> </a:t>
                      </a:r>
                      <a:r>
                        <a:rPr lang="en-US" altLang="zh-CN" dirty="0"/>
                        <a:t>SDK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judge 4.74/5, retrieval hit 0.938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5,615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6,212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19247169"/>
                  </a:ext>
                </a:extLst>
              </a:tr>
              <a:tr h="908987">
                <a:tc>
                  <a:txBody>
                    <a:bodyPr/>
                    <a:lstStyle/>
                    <a:p>
                      <a:r>
                        <a:rPr lang="en-US" dirty="0" err="1"/>
                        <a:t>NOOA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judge 4.78/5, retrieval hit 1.000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21,412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17,709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1924716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497313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54E320-55BA-90A6-BC09-0EC014C109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Email-Auto response</a:t>
            </a:r>
            <a:endParaRPr lang="en-US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AE563327-77FB-133A-FC82-18D635A0A5F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21217558"/>
              </p:ext>
            </p:extLst>
          </p:nvPr>
        </p:nvGraphicFramePr>
        <p:xfrm>
          <a:off x="1131560" y="1815549"/>
          <a:ext cx="9473376" cy="45449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68344">
                  <a:extLst>
                    <a:ext uri="{9D8B030D-6E8A-4147-A177-3AD203B41FA5}">
                      <a16:colId xmlns:a16="http://schemas.microsoft.com/office/drawing/2014/main" val="2209783406"/>
                    </a:ext>
                  </a:extLst>
                </a:gridCol>
                <a:gridCol w="2368344">
                  <a:extLst>
                    <a:ext uri="{9D8B030D-6E8A-4147-A177-3AD203B41FA5}">
                      <a16:colId xmlns:a16="http://schemas.microsoft.com/office/drawing/2014/main" val="2091479726"/>
                    </a:ext>
                  </a:extLst>
                </a:gridCol>
                <a:gridCol w="2368344">
                  <a:extLst>
                    <a:ext uri="{9D8B030D-6E8A-4147-A177-3AD203B41FA5}">
                      <a16:colId xmlns:a16="http://schemas.microsoft.com/office/drawing/2014/main" val="2236303871"/>
                    </a:ext>
                  </a:extLst>
                </a:gridCol>
                <a:gridCol w="2368344">
                  <a:extLst>
                    <a:ext uri="{9D8B030D-6E8A-4147-A177-3AD203B41FA5}">
                      <a16:colId xmlns:a16="http://schemas.microsoft.com/office/drawing/2014/main" val="487298875"/>
                    </a:ext>
                  </a:extLst>
                </a:gridCol>
              </a:tblGrid>
              <a:tr h="908987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Score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Median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Mean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05284188"/>
                  </a:ext>
                </a:extLst>
              </a:tr>
              <a:tr h="908987">
                <a:tc>
                  <a:txBody>
                    <a:bodyPr/>
                    <a:lstStyle/>
                    <a:p>
                      <a:r>
                        <a:rPr lang="en-US" dirty="0" err="1"/>
                        <a:t>byLLM</a:t>
                      </a:r>
                      <a:endParaRPr lang="en-US" dirty="0"/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filter F1 0.976, draft completion 1.00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11,742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16,102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1054921"/>
                  </a:ext>
                </a:extLst>
              </a:tr>
              <a:tr h="908987">
                <a:tc>
                  <a:txBody>
                    <a:bodyPr/>
                    <a:lstStyle/>
                    <a:p>
                      <a:r>
                        <a:rPr lang="en-US" dirty="0" err="1"/>
                        <a:t>LangGraph+</a:t>
                      </a:r>
                      <a:r>
                        <a:rPr lang="en-US" altLang="zh-CN" dirty="0" err="1"/>
                        <a:t>CrewAI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filter F1 0.833, draft completion 1.00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13</a:t>
                      </a:r>
                      <a:r>
                        <a:rPr lang="en-US" altLang="zh-CN" dirty="0"/>
                        <a:t>,683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15,829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25613890"/>
                  </a:ext>
                </a:extLst>
              </a:tr>
              <a:tr h="908987">
                <a:tc>
                  <a:txBody>
                    <a:bodyPr/>
                    <a:lstStyle/>
                    <a:p>
                      <a:r>
                        <a:rPr lang="en-US" dirty="0" err="1"/>
                        <a:t>Openai</a:t>
                      </a:r>
                      <a:r>
                        <a:rPr lang="en-US" dirty="0"/>
                        <a:t> </a:t>
                      </a:r>
                      <a:r>
                        <a:rPr lang="en-US" altLang="zh-CN" dirty="0"/>
                        <a:t>SDK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filter F1 0.976, draft completion 1.00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10,796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13,900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19247169"/>
                  </a:ext>
                </a:extLst>
              </a:tr>
              <a:tr h="908987">
                <a:tc>
                  <a:txBody>
                    <a:bodyPr/>
                    <a:lstStyle/>
                    <a:p>
                      <a:r>
                        <a:rPr lang="en-US" dirty="0" err="1"/>
                        <a:t>NOOA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filter F1 0.976, draft completion 1.00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24,347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26,470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1924716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51884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B015B7-8C7F-10CC-5E16-25206F25C2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HoVer</a:t>
            </a:r>
            <a:r>
              <a:rPr lang="en-US" altLang="zh-CN" dirty="0"/>
              <a:t> Fact Check</a:t>
            </a:r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A3ACDD0-7A3D-29CD-00FB-7CC104BDC74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72909529"/>
              </p:ext>
            </p:extLst>
          </p:nvPr>
        </p:nvGraphicFramePr>
        <p:xfrm>
          <a:off x="1201362" y="1945640"/>
          <a:ext cx="10307468" cy="451791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76867">
                  <a:extLst>
                    <a:ext uri="{9D8B030D-6E8A-4147-A177-3AD203B41FA5}">
                      <a16:colId xmlns:a16="http://schemas.microsoft.com/office/drawing/2014/main" val="1222935558"/>
                    </a:ext>
                  </a:extLst>
                </a:gridCol>
                <a:gridCol w="2576867">
                  <a:extLst>
                    <a:ext uri="{9D8B030D-6E8A-4147-A177-3AD203B41FA5}">
                      <a16:colId xmlns:a16="http://schemas.microsoft.com/office/drawing/2014/main" val="4055026440"/>
                    </a:ext>
                  </a:extLst>
                </a:gridCol>
                <a:gridCol w="2576867">
                  <a:extLst>
                    <a:ext uri="{9D8B030D-6E8A-4147-A177-3AD203B41FA5}">
                      <a16:colId xmlns:a16="http://schemas.microsoft.com/office/drawing/2014/main" val="2823401696"/>
                    </a:ext>
                  </a:extLst>
                </a:gridCol>
                <a:gridCol w="2576867">
                  <a:extLst>
                    <a:ext uri="{9D8B030D-6E8A-4147-A177-3AD203B41FA5}">
                      <a16:colId xmlns:a16="http://schemas.microsoft.com/office/drawing/2014/main" val="1635701089"/>
                    </a:ext>
                  </a:extLst>
                </a:gridCol>
              </a:tblGrid>
              <a:tr h="903583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Accuracy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Avg token/instance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Median tokens/instance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30457368"/>
                  </a:ext>
                </a:extLst>
              </a:tr>
              <a:tr h="903583">
                <a:tc>
                  <a:txBody>
                    <a:bodyPr/>
                    <a:lstStyle/>
                    <a:p>
                      <a:r>
                        <a:rPr lang="en-US" dirty="0"/>
                        <a:t>Jac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90,983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68,711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2758941"/>
                  </a:ext>
                </a:extLst>
              </a:tr>
              <a:tr h="903583">
                <a:tc>
                  <a:txBody>
                    <a:bodyPr/>
                    <a:lstStyle/>
                    <a:p>
                      <a:r>
                        <a:rPr lang="en-US" dirty="0" err="1"/>
                        <a:t>LangGraph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104,917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99,345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59364618"/>
                  </a:ext>
                </a:extLst>
              </a:tr>
              <a:tr h="903583">
                <a:tc>
                  <a:txBody>
                    <a:bodyPr/>
                    <a:lstStyle/>
                    <a:p>
                      <a:r>
                        <a:rPr lang="en-US"/>
                        <a:t>OpenaiSDK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105,486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98,479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60883632"/>
                  </a:ext>
                </a:extLst>
              </a:tr>
              <a:tr h="903583">
                <a:tc>
                  <a:txBody>
                    <a:bodyPr/>
                    <a:lstStyle/>
                    <a:p>
                      <a:r>
                        <a:rPr lang="en-US"/>
                        <a:t>NOOA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98,370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78,089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6088363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59820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7814BC-CA66-9315-8438-35E4A629A5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Prompt Hoisting for KV Cache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124EA3FF-5D9B-E9F5-1B88-8E4D3B0280A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62211189"/>
              </p:ext>
            </p:extLst>
          </p:nvPr>
        </p:nvGraphicFramePr>
        <p:xfrm>
          <a:off x="838200" y="1825625"/>
          <a:ext cx="10515600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8900">
                  <a:extLst>
                    <a:ext uri="{9D8B030D-6E8A-4147-A177-3AD203B41FA5}">
                      <a16:colId xmlns:a16="http://schemas.microsoft.com/office/drawing/2014/main" val="1129675833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153034178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325586418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09523595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Agent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Baseline Hit 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Hoisting Hit 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Improvement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226367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Code Agent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84.8%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88.4%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3.6%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984099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Email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70.4%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73.2%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2.8</a:t>
                      </a:r>
                      <a:r>
                        <a:rPr lang="en-US" altLang="zh-CN" dirty="0"/>
                        <a:t>%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28916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Fact</a:t>
                      </a:r>
                      <a:r>
                        <a:rPr lang="en-US" altLang="zh-CN" dirty="0" err="1"/>
                        <a:t>Check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62.0%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64.5%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2.5</a:t>
                      </a:r>
                      <a:r>
                        <a:rPr lang="en-US" altLang="zh-CN" dirty="0"/>
                        <a:t>%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02784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Ytnavigator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57.4%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60.4%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3.0%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332891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Meeting </a:t>
                      </a:r>
                      <a:r>
                        <a:rPr lang="en-US" dirty="0" err="1"/>
                        <a:t>Assitant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24.8%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23.8%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-1.0%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647072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584017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DA55B9-B3C9-B9A6-2B3F-569FA74B11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000" dirty="0"/>
              <a:t>Model routing with better </a:t>
            </a:r>
            <a:r>
              <a:rPr lang="en-US" altLang="zh-CN" sz="4000" dirty="0"/>
              <a:t>hint (KNN, </a:t>
            </a:r>
            <a:r>
              <a:rPr lang="en-US" altLang="zh-CN" sz="4000" dirty="0" err="1"/>
              <a:t>LLMRouter</a:t>
            </a:r>
            <a:r>
              <a:rPr lang="en-US" altLang="zh-CN" sz="4000" dirty="0"/>
              <a:t>)</a:t>
            </a:r>
            <a:br>
              <a:rPr lang="en-US" altLang="zh-CN" sz="4000" dirty="0"/>
            </a:br>
            <a:r>
              <a:rPr lang="en-US" altLang="zh-CN" sz="4000" dirty="0"/>
              <a:t>Training</a:t>
            </a:r>
            <a:endParaRPr lang="en-US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817F5C-F902-7F88-BA51-23434F7E2A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 err="1"/>
              <a:t>ByLLM’s</a:t>
            </a:r>
            <a:r>
              <a:rPr lang="en-US" sz="2000" dirty="0"/>
              <a:t> definition itself is a contract</a:t>
            </a:r>
          </a:p>
          <a:p>
            <a:pPr marL="0" indent="0">
              <a:buNone/>
            </a:pPr>
            <a:r>
              <a:rPr lang="en-US" sz="2000" dirty="0"/>
              <a:t>def </a:t>
            </a:r>
            <a:r>
              <a:rPr lang="en-US" sz="2000" dirty="0" err="1"/>
              <a:t>filter_emails</a:t>
            </a:r>
            <a:r>
              <a:rPr lang="en-US" sz="2000" dirty="0"/>
              <a:t>(abstract: </a:t>
            </a:r>
            <a:r>
              <a:rPr lang="en-US" sz="2000" dirty="0" err="1"/>
              <a:t>MailAbstract</a:t>
            </a:r>
            <a:r>
              <a:rPr lang="en-US" sz="2000" dirty="0"/>
              <a:t>) -&gt; Classification by </a:t>
            </a:r>
            <a:r>
              <a:rPr lang="en-US" sz="2000" dirty="0" err="1"/>
              <a:t>llm</a:t>
            </a:r>
            <a:r>
              <a:rPr lang="en-US" sz="2000" dirty="0"/>
              <a:t>();</a:t>
            </a:r>
          </a:p>
          <a:p>
            <a:pPr marL="0" indent="0">
              <a:buNone/>
            </a:pPr>
            <a:r>
              <a:rPr lang="en-US" sz="2000" dirty="0"/>
              <a:t>We use a strong model (GLM 5.2) as the reference, KNN learns if a weaker model can handle such task. We compare to metrics of the results of weaker model against stronger model: </a:t>
            </a:r>
          </a:p>
          <a:p>
            <a:pPr lvl="0"/>
            <a:r>
              <a:rPr lang="en-US" sz="2000" b="1" dirty="0"/>
              <a:t>valid</a:t>
            </a:r>
            <a:r>
              <a:rPr lang="en-US" sz="2000" dirty="0"/>
              <a:t>: The reply parses and satisfies the JSON schema of the declared return type; for a tool calling, it is a well-formed call to a declared tool.</a:t>
            </a:r>
          </a:p>
          <a:p>
            <a:pPr lvl="0"/>
            <a:r>
              <a:rPr lang="en-US" sz="2000" b="1" dirty="0"/>
              <a:t>agree</a:t>
            </a:r>
            <a:r>
              <a:rPr lang="en-US" sz="2000" dirty="0"/>
              <a:t>: the reply matches the strong model's reply on the typed skeleton. (e.g.: same </a:t>
            </a:r>
            <a:r>
              <a:rPr lang="en-US" sz="2000" dirty="0" err="1"/>
              <a:t>enum</a:t>
            </a:r>
            <a:r>
              <a:rPr lang="en-US" sz="2000" dirty="0"/>
              <a:t>)</a:t>
            </a:r>
          </a:p>
          <a:p>
            <a:pPr marL="0" lvl="0" indent="0">
              <a:buNone/>
            </a:pPr>
            <a:r>
              <a:rPr lang="en-US" sz="2000" dirty="0"/>
              <a:t>Define performance score for each task: perf = valid * agree - 0.2 * cost / </a:t>
            </a:r>
            <a:r>
              <a:rPr lang="en-US" sz="2000" dirty="0" err="1"/>
              <a:t>max_cost</a:t>
            </a:r>
            <a:r>
              <a:rPr lang="en-US" sz="2000" dirty="0"/>
              <a:t>(query)</a:t>
            </a:r>
          </a:p>
          <a:p>
            <a:pPr marL="0" lvl="0" indent="0">
              <a:buNone/>
            </a:pPr>
            <a:r>
              <a:rPr lang="en-US" sz="2000" dirty="0"/>
              <a:t>For each training trace, use </a:t>
            </a:r>
            <a:r>
              <a:rPr lang="en-US" sz="2000" dirty="0" err="1"/>
              <a:t>Longformer</a:t>
            </a:r>
            <a:r>
              <a:rPr lang="en-US" sz="2000" dirty="0"/>
              <a:t> to encode it into vector, label the model assigned to it as the one that has highest performance score.</a:t>
            </a:r>
          </a:p>
          <a:p>
            <a:pPr marL="0" lvl="0" indent="0">
              <a:buNone/>
            </a:pPr>
            <a:r>
              <a:rPr lang="en-US" sz="2000" dirty="0"/>
              <a:t>Save each learned vector then. </a:t>
            </a:r>
          </a:p>
        </p:txBody>
      </p:sp>
    </p:spTree>
    <p:extLst>
      <p:ext uri="{BB962C8B-B14F-4D97-AF65-F5344CB8AC3E}">
        <p14:creationId xmlns:p14="http://schemas.microsoft.com/office/powerpoint/2010/main" val="19406262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ED8257-20F5-BA3C-B620-E87CEEEECA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 routing with better </a:t>
            </a:r>
            <a:r>
              <a:rPr lang="en-US" altLang="zh-CN" dirty="0"/>
              <a:t>hint (KNN)</a:t>
            </a:r>
            <a:br>
              <a:rPr lang="en-US" altLang="zh-CN" dirty="0"/>
            </a:br>
            <a:r>
              <a:rPr lang="en-US" altLang="zh-CN" dirty="0"/>
              <a:t>Inference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31109F-198B-CF70-A2B6-34C3DCB5A8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Runtime assembled </a:t>
            </a:r>
            <a:r>
              <a:rPr lang="en-US" dirty="0" err="1"/>
              <a:t>ByLLM</a:t>
            </a:r>
            <a:r>
              <a:rPr lang="en-US" dirty="0"/>
              <a:t> prompt is encoded into vector using </a:t>
            </a:r>
            <a:r>
              <a:rPr lang="en-US" dirty="0" err="1"/>
              <a:t>Longformer</a:t>
            </a:r>
            <a:r>
              <a:rPr lang="en-US" dirty="0"/>
              <a:t>. 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Find the k-nearest vector, do a distance weighted vote (cosine distance). 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Model with highest weighted vote will be selected.  </a:t>
            </a:r>
          </a:p>
        </p:txBody>
      </p:sp>
    </p:spTree>
    <p:extLst>
      <p:ext uri="{BB962C8B-B14F-4D97-AF65-F5344CB8AC3E}">
        <p14:creationId xmlns:p14="http://schemas.microsoft.com/office/powerpoint/2010/main" val="2200191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05502B-ADEA-8004-8F66-32E642F4D0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 routing with better </a:t>
            </a:r>
            <a:r>
              <a:rPr lang="en-US" altLang="zh-CN" dirty="0"/>
              <a:t>hint (KNN)</a:t>
            </a:r>
            <a:br>
              <a:rPr lang="en-US" altLang="zh-CN" dirty="0"/>
            </a:br>
            <a:r>
              <a:rPr lang="en-US" altLang="zh-CN" dirty="0"/>
              <a:t>Eval: K=5, GLM-5.2 and gemma-30b </a:t>
            </a:r>
            <a:endParaRPr lang="en-US" dirty="0"/>
          </a:p>
        </p:txBody>
      </p:sp>
      <p:graphicFrame>
        <p:nvGraphicFramePr>
          <p:cNvPr id="6" name="Table 0">
            <a:extLst>
              <a:ext uri="{FF2B5EF4-FFF2-40B4-BE49-F238E27FC236}">
                <a16:creationId xmlns:a16="http://schemas.microsoft.com/office/drawing/2014/main" id="{C4EFAC17-4C69-A538-E1B6-141EDA50F57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89128104"/>
              </p:ext>
            </p:extLst>
          </p:nvPr>
        </p:nvGraphicFramePr>
        <p:xfrm>
          <a:off x="548640" y="1828799"/>
          <a:ext cx="11150095" cy="4841300"/>
        </p:xfrm>
        <a:graphic>
          <a:graphicData uri="http://schemas.openxmlformats.org/drawingml/2006/table">
            <a:tbl>
              <a:tblPr/>
              <a:tblGrid>
                <a:gridCol w="25278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0834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245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0834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8105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9125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Strong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Cheap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Routed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USD saved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2598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 err="1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YTNavigator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retrieval hit 1.00 · answer 5.0/5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$0.0235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retrieval hit 0.00 · answer 1.0/5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$0.0023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retrieval hit 1.00 · answer 4.7/5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$0.0035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$0.0200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1C729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−85%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2598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Email Auto-response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filter F1 0.96 · drafts 13/13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$0.0491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filter F1 0.96 · drafts 13/13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$0.0727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filter F1 0.96 · drafts 13/13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$0.0247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$0.0244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1C729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−50%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2598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HoVer Fact Check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l">
                        <a:buNone/>
                      </a:pP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 3/3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$0.0881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 1/3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$0.0240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 3/3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$0.0695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$0.0186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1C729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−21%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2598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Meeting Assistant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completed 5/5 · judge F1 1.00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$0.0053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completed 0/5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$1.1479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completed 5/5 · judge F1 1.00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$0.0044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$0.0009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1C729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−17%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2598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altLang="zh-CN" sz="1800" dirty="0">
                          <a:latin typeface="Calibri" charset="0"/>
                          <a:ea typeface="Calibri" charset="0"/>
                          <a:cs typeface="Calibri" charset="0"/>
                        </a:rPr>
                        <a:t>Code Agent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latin typeface="Calibri" charset="0"/>
                          <a:ea typeface="Calibri" charset="0"/>
                          <a:cs typeface="Calibri" charset="0"/>
                        </a:rPr>
                        <a:t>  resolved 4/7</a:t>
                      </a:r>
                    </a:p>
                    <a:p>
                      <a:pPr marL="0" indent="0" algn="l">
                        <a:buNone/>
                      </a:pPr>
                      <a:r>
                        <a:rPr lang="en-US" sz="1800" dirty="0">
                          <a:latin typeface="Calibri" charset="0"/>
                          <a:ea typeface="Calibri" charset="0"/>
                          <a:cs typeface="Calibri" charset="0"/>
                        </a:rPr>
                        <a:t>$2.1759</a:t>
                      </a:r>
                    </a:p>
                  </a:txBody>
                  <a:tcPr marL="109728" marR="109728" marT="54864" marB="54864" anchor="ctr">
                    <a:lnL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latin typeface="Calibri" charset="0"/>
                          <a:ea typeface="Calibri" charset="0"/>
                          <a:cs typeface="Calibri" charset="0"/>
                        </a:rPr>
                        <a:t>resolved 0/7</a:t>
                      </a:r>
                    </a:p>
                    <a:p>
                      <a:pPr marL="0" indent="0" algn="l">
                        <a:buNone/>
                      </a:pPr>
                      <a:r>
                        <a:rPr lang="en-US" sz="1800" dirty="0">
                          <a:latin typeface="Calibri" charset="0"/>
                          <a:ea typeface="Calibri" charset="0"/>
                          <a:cs typeface="Calibri" charset="0"/>
                        </a:rPr>
                        <a:t>$0.2069</a:t>
                      </a:r>
                    </a:p>
                  </a:txBody>
                  <a:tcPr marL="109728" marR="109728" marT="54864" marB="54864" anchor="ctr">
                    <a:lnL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latin typeface="Calibri" charset="0"/>
                          <a:ea typeface="Calibri" charset="0"/>
                          <a:cs typeface="Calibri" charset="0"/>
                        </a:rPr>
                        <a:t>resolved 3/7</a:t>
                      </a:r>
                    </a:p>
                    <a:p>
                      <a:pPr marL="0" indent="0" algn="l">
                        <a:buNone/>
                      </a:pPr>
                      <a:r>
                        <a:rPr lang="en-US" sz="1800" dirty="0">
                          <a:latin typeface="Calibri" charset="0"/>
                          <a:ea typeface="Calibri" charset="0"/>
                          <a:cs typeface="Calibri" charset="0"/>
                        </a:rPr>
                        <a:t>$1.7223</a:t>
                      </a:r>
                    </a:p>
                  </a:txBody>
                  <a:tcPr marL="109728" marR="109728" marT="54864" marB="54864" anchor="ctr">
                    <a:lnL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latin typeface="Calibri" charset="0"/>
                          <a:ea typeface="Calibri" charset="0"/>
                          <a:cs typeface="Calibri" charset="0"/>
                        </a:rPr>
                        <a:t> $0.4536</a:t>
                      </a:r>
                    </a:p>
                    <a:p>
                      <a:pPr marL="0" indent="0" algn="ctr">
                        <a:buNone/>
                      </a:pPr>
                      <a:r>
                        <a:rPr lang="en-US" sz="1800" dirty="0">
                          <a:latin typeface="Calibri" charset="0"/>
                          <a:ea typeface="Calibri" charset="0"/>
                          <a:cs typeface="Calibri" charset="0"/>
                        </a:rPr>
                        <a:t>−21%</a:t>
                      </a:r>
                    </a:p>
                  </a:txBody>
                  <a:tcPr marL="109728" marR="109728" marT="54864" marB="54864" anchor="ctr">
                    <a:lnL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449236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016803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BBBF82-5234-04D7-187B-677726EB15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756BE4-6562-0E21-0945-96E355D4A6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On code style and readability, refer to: </a:t>
            </a:r>
            <a:r>
              <a:rPr lang="en-US" dirty="0">
                <a:hlinkClick r:id="rId2" tooltip="https://codimd.web.cern.ch/s/ZGBpyi9gT"/>
              </a:rPr>
              <a:t>https://codimd.web.cern.ch/s/ZGBpyi9gT</a:t>
            </a:r>
            <a:endParaRPr lang="en-US" dirty="0"/>
          </a:p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altLang="zh-CN" dirty="0" err="1"/>
              <a:t>ByLLM</a:t>
            </a:r>
            <a:r>
              <a:rPr lang="en-US" altLang="zh-CN" dirty="0"/>
              <a:t> Can achieve the performance of pure prompt engineering.                                            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219748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7A724A-AC8E-BB4F-4147-E66EEBC86A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Additional results on gpt</a:t>
            </a:r>
            <a:r>
              <a:rPr lang="en-US" altLang="zh-CN" dirty="0"/>
              <a:t>-4.1-mini</a:t>
            </a:r>
            <a:br>
              <a:rPr lang="en-US" altLang="zh-CN" dirty="0"/>
            </a:br>
            <a:r>
              <a:rPr lang="en-US" altLang="zh-CN" dirty="0"/>
              <a:t>Proprietary and weaker model</a:t>
            </a:r>
            <a:endParaRPr lang="en-US" dirty="0"/>
          </a:p>
        </p:txBody>
      </p:sp>
      <p:graphicFrame>
        <p:nvGraphicFramePr>
          <p:cNvPr id="13" name="Table 0">
            <a:extLst>
              <a:ext uri="{FF2B5EF4-FFF2-40B4-BE49-F238E27FC236}">
                <a16:creationId xmlns:a16="http://schemas.microsoft.com/office/drawing/2014/main" id="{2E9E0CAA-512A-C0C6-1E83-C6602239C06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84606989"/>
              </p:ext>
            </p:extLst>
          </p:nvPr>
        </p:nvGraphicFramePr>
        <p:xfrm>
          <a:off x="331558" y="1609344"/>
          <a:ext cx="11247120" cy="5248656"/>
        </p:xfrm>
        <a:graphic>
          <a:graphicData uri="http://schemas.openxmlformats.org/drawingml/2006/table">
            <a:tbl>
              <a:tblPr/>
              <a:tblGrid>
                <a:gridCol w="2468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383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Benchmark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Other metrics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Median tokens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Tokens / unit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 rowSpan="3"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 err="1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FactCheck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Jac (byLLM)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27.6%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145,634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130,768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LangGraph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10.3%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89,253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94,237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96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OpenAI SDK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20.7%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88,568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94,071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0896">
                <a:tc rowSpan="3"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Email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byLLM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judge 4.28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7,538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6,399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0896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CrewAI-LangGraph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judge 4.17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5,730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5,630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0896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OpenAI SDK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judge 4.40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5,825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5,087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0896">
                <a:tc rowSpan="3"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Meeting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byLLM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10/10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1,200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1,320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10896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CrewAI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10/10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1,518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1,657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10896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OpenAI SDK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10/10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1,236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1,334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10896">
                <a:tc rowSpan="3"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 err="1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YTNavigator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byLLM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4.87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routing 1.000 · retrieval hit 0.812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3,496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3,288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10896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OpenAI SDK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4.70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routing 0.957 · retrieval hit 1.000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4,428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3,656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10896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LangGraph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4.61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routing 0.957 · retrieval hit 1.000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5,610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4,762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10896">
                <a:tc rowSpan="4"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Code Agent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Jac (byLLM)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8/8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tok/resolved 454,597 · 47.2 calls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475,458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454,597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10896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LangGraph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7/8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tok/resolved 148,424 · 19.2 calls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93,402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129,871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310896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OpenAI SDK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8/8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tok/resolved 151,825 · 25.8 calls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128,372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151,825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310896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NOOA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5/8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tok/resolved 658,489 · 25.0 calls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250,992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411,556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345693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毛主席万岁">
      <a:majorFont>
        <a:latin typeface="Cambria"/>
        <a:ea typeface="宋体"/>
        <a:cs typeface=""/>
      </a:majorFont>
      <a:minorFont>
        <a:latin typeface="Cambri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3642</TotalTime>
  <Words>928</Words>
  <Application>Microsoft Office PowerPoint</Application>
  <PresentationFormat>Widescreen</PresentationFormat>
  <Paragraphs>291</Paragraphs>
  <Slides>14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Cambria</vt:lpstr>
      <vt:lpstr>Office Theme</vt:lpstr>
      <vt:lpstr>Jac Agent Comparison</vt:lpstr>
      <vt:lpstr>Experiment setup</vt:lpstr>
      <vt:lpstr>Test applications</vt:lpstr>
      <vt:lpstr>Code Agent: GLM5.2</vt:lpstr>
      <vt:lpstr>Meeting Assitant</vt:lpstr>
      <vt:lpstr>YTNavigator</vt:lpstr>
      <vt:lpstr>Email-Auto response</vt:lpstr>
      <vt:lpstr>HoVer Fact Check</vt:lpstr>
      <vt:lpstr>Prompt Hoisting for KV Cache</vt:lpstr>
      <vt:lpstr>Model routing with better hint (KNN, LLMRouter) Training</vt:lpstr>
      <vt:lpstr>Model routing with better hint (KNN) Inference</vt:lpstr>
      <vt:lpstr>Model routing with better hint (KNN) Eval: K=5, GLM-5.2 and gemma-30b </vt:lpstr>
      <vt:lpstr>Conclusion</vt:lpstr>
      <vt:lpstr>Additional results on gpt-4.1-mini Proprietary and weaker model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筱宇 马</dc:creator>
  <cp:lastModifiedBy>筱宇 马</cp:lastModifiedBy>
  <cp:revision>56</cp:revision>
  <dcterms:created xsi:type="dcterms:W3CDTF">2026-08-26T13:57:26Z</dcterms:created>
  <dcterms:modified xsi:type="dcterms:W3CDTF">2026-09-11T18:46:14Z</dcterms:modified>
</cp:coreProperties>
</file>