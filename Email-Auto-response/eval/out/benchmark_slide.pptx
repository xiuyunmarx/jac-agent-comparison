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byLLM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b001 baseline</c:v>
                </c:pt>
                <c:pt idx="1">
                  <c:v>b002 hard filter</c:v>
                </c:pt>
                <c:pt idx="2">
                  <c:v>b003 tone</c:v>
                </c:pt>
                <c:pt idx="3">
                  <c:v>b004 all noise</c:v>
                </c:pt>
                <c:pt idx="4">
                  <c:v>b005 empty</c:v>
                </c:pt>
                <c:pt idx="5">
                  <c:v>b006 high load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</c:v>
                </c:pt>
                <c:pt idx="1">
                  <c:v>1.0</c:v>
                </c:pt>
                <c:pt idx="2">
                  <c:v>0.86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CrewAI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b001 baseline</c:v>
                </c:pt>
                <c:pt idx="1">
                  <c:v>b002 hard filter</c:v>
                </c:pt>
                <c:pt idx="2">
                  <c:v>b003 tone</c:v>
                </c:pt>
                <c:pt idx="3">
                  <c:v>b004 all noise</c:v>
                </c:pt>
                <c:pt idx="4">
                  <c:v>b005 empty</c:v>
                </c:pt>
                <c:pt idx="5">
                  <c:v>b006 high load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1.0</c:v>
                </c:pt>
                <c:pt idx="1">
                  <c:v>0.4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  <c:pt idx="5">
                  <c:v>0.0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850">
                  <a:solidFill>
                    <a:srgbClr val="52514E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C2B7"/>
            </a:solidFill>
          </a:ln>
        </c:spPr>
        <c:txPr>
          <a:bodyPr/>
          <a:lstStyle/>
          <a:p>
            <a:pPr>
              <a:defRPr sz="900">
                <a:solidFill>
                  <a:srgbClr val="52514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 w="9525">
              <a:solidFill>
                <a:srgbClr val="E1E0D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98781"/>
                </a:solidFill>
              </a:defRPr>
            </a:pPr>
          </a:p>
        </c:txPr>
        <c:crossAx val="-2068027336"/>
        <c:crosses val="autoZero"/>
        <c:majorUnit val="0.25"/>
      </c:valAx>
    </c:plotArea>
    <c:legend>
      <c:legendPos val="t"/>
      <c:overlay val="0"/>
      <c:txPr>
        <a:bodyPr/>
        <a:lstStyle/>
        <a:p>
          <a:pPr>
            <a:defRPr sz="950"/>
          </a:pPr>
        </a:p>
      </c:txPr>
    </c:legend>
    <c:dispBlanksAs val="gap"/>
  </c:chart>
  <c:txPr>
    <a:bodyPr/>
    <a:lstStyle/>
    <a:p>
      <a:pPr>
        <a:defRPr sz="900">
          <a:solidFill>
            <a:srgbClr val="52514E"/>
          </a:solidFill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98781"/>
                </a:solidFill>
              </a:rPr>
              <a:t>JACAGENTCOMPARISON  ·  EMAIL AUTO-RESPONSE BENCHMARK  ·  AUG 5,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B0B"/>
                </a:solidFill>
              </a:rPr>
              <a:t>byLLM (Jac)  vs  CrewAI-LangGraph</a:t>
            </a:r>
            <a:r>
              <a:rPr sz="1400" b="0">
                <a:solidFill>
                  <a:srgbClr val="898781"/>
                </a:solidFill>
              </a:rPr>
              <a:t>   — same task, same gpt-4o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89720" y="384048"/>
            <a:ext cx="2514600" cy="566928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/>
          <a:lstStyle/>
          <a:p>
            <a:pPr algn="ctr"/>
            <a:r>
              <a:rPr sz="950" b="0">
                <a:solidFill>
                  <a:srgbClr val="52514E"/>
                </a:solidFill>
              </a:rPr>
              <a:t>Deterministic + gpt-4o judge
</a:t>
            </a:r>
            <a:r>
              <a:rPr sz="950" b="0">
                <a:solidFill>
                  <a:srgbClr val="898781"/>
                </a:solidFill>
              </a:rPr>
              <a:t>single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4297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98781"/>
                </a:solidFill>
              </a:rPr>
              <a:t>EXPECTED DRAFTS DELIVERED (OF 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44805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2A78D6"/>
                </a:solidFill>
              </a:rPr>
              <a:t>13/13</a:t>
            </a:r>
            <a:r>
              <a:rPr sz="1500" b="0">
                <a:solidFill>
                  <a:srgbClr val="898781"/>
                </a:solidFill>
              </a:rPr>
              <a:t>   vs   </a:t>
            </a:r>
            <a:r>
              <a:rPr sz="4000" b="1">
                <a:solidFill>
                  <a:srgbClr val="EB6834"/>
                </a:solidFill>
              </a:rPr>
              <a:t>4/13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86000"/>
            <a:ext cx="4297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2A78D6"/>
                </a:solidFill>
              </a:rPr>
              <a:t>■ </a:t>
            </a:r>
            <a:r>
              <a:rPr sz="1100" b="0">
                <a:solidFill>
                  <a:srgbClr val="52514E"/>
                </a:solidFill>
              </a:rPr>
              <a:t>byLLM        </a:t>
            </a:r>
            <a:r>
              <a:rPr sz="1100" b="0">
                <a:solidFill>
                  <a:srgbClr val="EB6834"/>
                </a:solidFill>
              </a:rPr>
              <a:t>■ </a:t>
            </a:r>
            <a:r>
              <a:rPr sz="1100" b="0">
                <a:solidFill>
                  <a:srgbClr val="52514E"/>
                </a:solidFill>
              </a:rPr>
              <a:t>CrewAI-LangGraph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15184"/>
            <a:ext cx="1389888" cy="713232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706624"/>
            <a:ext cx="120700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898781"/>
                </a:solidFill>
              </a:rPr>
              <a:t>MICRO F1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A78D6"/>
                </a:solidFill>
              </a:rPr>
              <a:t>0.96</a:t>
            </a:r>
            <a:r>
              <a:rPr sz="1050" b="0">
                <a:solidFill>
                  <a:srgbClr val="898781"/>
                </a:solidFill>
              </a:rPr>
              <a:t> / </a:t>
            </a:r>
            <a:r>
              <a:rPr sz="1400" b="1">
                <a:solidFill>
                  <a:srgbClr val="EB6834"/>
                </a:solidFill>
              </a:rPr>
              <a:t>0.36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84248" y="2615184"/>
            <a:ext cx="1389888" cy="713232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2706624"/>
            <a:ext cx="120700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898781"/>
                </a:solidFill>
              </a:rPr>
              <a:t>PRECISION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A78D6"/>
                </a:solidFill>
              </a:rPr>
              <a:t>0.93</a:t>
            </a:r>
            <a:r>
              <a:rPr sz="1050" b="0">
                <a:solidFill>
                  <a:srgbClr val="898781"/>
                </a:solidFill>
              </a:rPr>
              <a:t> / </a:t>
            </a:r>
            <a:r>
              <a:rPr sz="1400" b="1">
                <a:solidFill>
                  <a:srgbClr val="EB6834"/>
                </a:solidFill>
              </a:rPr>
              <a:t>0.44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2615184"/>
            <a:ext cx="1389888" cy="713232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706624"/>
            <a:ext cx="120700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898781"/>
                </a:solidFill>
              </a:rPr>
              <a:t>RECALL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A78D6"/>
                </a:solidFill>
              </a:rPr>
              <a:t>1.00</a:t>
            </a:r>
            <a:r>
              <a:rPr sz="1050" b="0">
                <a:solidFill>
                  <a:srgbClr val="898781"/>
                </a:solidFill>
              </a:rPr>
              <a:t> / </a:t>
            </a:r>
            <a:r>
              <a:rPr sz="1400" b="1">
                <a:solidFill>
                  <a:srgbClr val="EB6834"/>
                </a:solidFill>
              </a:rPr>
              <a:t>0.31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19856"/>
            <a:ext cx="1389888" cy="713232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511296"/>
            <a:ext cx="120700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898781"/>
                </a:solidFill>
              </a:rPr>
              <a:t>KP COVERAGE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A78D6"/>
                </a:solidFill>
              </a:rPr>
              <a:t>0.87</a:t>
            </a:r>
            <a:r>
              <a:rPr sz="1050" b="0">
                <a:solidFill>
                  <a:srgbClr val="898781"/>
                </a:solidFill>
              </a:rPr>
              <a:t> / </a:t>
            </a:r>
            <a:r>
              <a:rPr sz="1400" b="1">
                <a:solidFill>
                  <a:srgbClr val="EB6834"/>
                </a:solidFill>
              </a:rPr>
              <a:t>0.55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84248" y="3419856"/>
            <a:ext cx="1389888" cy="713232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0" y="3511296"/>
            <a:ext cx="120700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898781"/>
                </a:solidFill>
              </a:rPr>
              <a:t>OVERALL (1–5)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A78D6"/>
                </a:solidFill>
              </a:rPr>
              <a:t>4.5</a:t>
            </a:r>
            <a:r>
              <a:rPr sz="1050" b="0">
                <a:solidFill>
                  <a:srgbClr val="898781"/>
                </a:solidFill>
              </a:rPr>
              <a:t> / </a:t>
            </a:r>
            <a:r>
              <a:rPr sz="1400" b="1">
                <a:solidFill>
                  <a:srgbClr val="EB6834"/>
                </a:solidFill>
              </a:rPr>
              <a:t>3.8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65576" y="3419856"/>
            <a:ext cx="1389888" cy="713232"/>
          </a:xfrm>
          <a:prstGeom prst="roundRect">
            <a:avLst>
              <a:gd name="adj" fmla="val 12000"/>
            </a:avLst>
          </a:prstGeom>
          <a:noFill/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3511296"/>
            <a:ext cx="1207008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898781"/>
                </a:solidFill>
              </a:rPr>
              <a:t>DRAFTS JUDGED</a:t>
            </a:r>
          </a:p>
          <a:p>
            <a:pPr algn="l">
              <a:spcAft>
                <a:spcPts val="200"/>
              </a:spcAft>
            </a:pPr>
            <a:r>
              <a:rPr sz="1400" b="1">
                <a:solidFill>
                  <a:srgbClr val="2A78D6"/>
                </a:solidFill>
              </a:rPr>
              <a:t>13</a:t>
            </a:r>
            <a:r>
              <a:rPr sz="1050" b="0">
                <a:solidFill>
                  <a:srgbClr val="898781"/>
                </a:solidFill>
              </a:rPr>
              <a:t> / </a:t>
            </a:r>
            <a:r>
              <a:rPr sz="1400" b="1">
                <a:solidFill>
                  <a:srgbClr val="EB6834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24528"/>
            <a:ext cx="43159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898781"/>
                </a:solidFill>
              </a:rPr>
              <a:t>Judge (gpt-4o): tone 4.9 vs 4.8 · factuality 4.9 vs 4.8 — CrewAI judged only on its 4 surviving drafts.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498848"/>
            <a:ext cx="4315968" cy="658368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590288"/>
            <a:ext cx="402336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06300"/>
                </a:solidFill>
              </a:rPr>
              <a:t>Safety: both clean.  </a:t>
            </a:r>
            <a:r>
              <a:rPr sz="900" b="0">
                <a:solidFill>
                  <a:srgbClr val="52514E"/>
                </a:solidFill>
              </a:rPr>
              <a:t>0 injection replies · 0 content leaks · 0 hallucinated thread IDs · 0 Create-Draft tool errors.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1207008"/>
            <a:ext cx="3657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B0B0B"/>
                </a:solidFill>
              </a:rPr>
              <a:t>Filtering F1 by batch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4983480" y="1444752"/>
          <a:ext cx="672084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02920" y="5230368"/>
            <a:ext cx="68580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898781"/>
                </a:solidFill>
              </a:rPr>
              <a:t>WHERE CREWAI LOST IT — MECHANICAL FAILURES, NOT JUDGMENT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431536"/>
            <a:ext cx="2240280" cy="969264"/>
          </a:xfrm>
          <a:prstGeom prst="roundRect">
            <a:avLst>
              <a:gd name="adj" fmla="val 8000"/>
            </a:avLst>
          </a:prstGeom>
          <a:solidFill>
            <a:srgbClr val="FC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504688"/>
            <a:ext cx="200253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B0B0B"/>
                </a:solidFill>
              </a:rPr>
              <a:t>Phantom drafts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52514E"/>
                </a:solidFill>
              </a:rPr>
              <a:t>Replies written in the crew's final answer — Create-Draft never invoked; 8 of 13 drafts lost.  </a:t>
            </a:r>
            <a:r>
              <a:rPr sz="850" b="0">
                <a:solidFill>
                  <a:srgbClr val="898781"/>
                </a:solidFill>
              </a:rPr>
              <a:t>b003 · b006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34639" y="5431536"/>
            <a:ext cx="2240280" cy="969264"/>
          </a:xfrm>
          <a:prstGeom prst="roundRect">
            <a:avLst>
              <a:gd name="adj" fmla="val 8000"/>
            </a:avLst>
          </a:prstGeom>
          <a:solidFill>
            <a:srgbClr val="FC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53511" y="5504688"/>
            <a:ext cx="200253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B0B0B"/>
                </a:solidFill>
              </a:rPr>
              <a:t>Wrong recipient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52514E"/>
                </a:solidFill>
              </a:rPr>
              <a:t>All drafts addressed to the mailbox owner, not the sender (one rescued by subject match).  </a:t>
            </a:r>
            <a:r>
              <a:rPr sz="850" b="0">
                <a:solidFill>
                  <a:srgbClr val="898781"/>
                </a:solidFill>
              </a:rPr>
              <a:t>b002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66359" y="5431536"/>
            <a:ext cx="2240280" cy="969264"/>
          </a:xfrm>
          <a:prstGeom prst="roundRect">
            <a:avLst>
              <a:gd name="adj" fmla="val 8000"/>
            </a:avLst>
          </a:prstGeom>
          <a:solidFill>
            <a:srgbClr val="FC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85231" y="5504688"/>
            <a:ext cx="200253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B0B0B"/>
                </a:solidFill>
              </a:rPr>
              <a:t>Noise traps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52514E"/>
                </a:solidFill>
              </a:rPr>
              <a:t>Replied to CI failure, calendar reminder, and SEO spam — all three planted traps.  </a:t>
            </a:r>
            <a:r>
              <a:rPr sz="850" b="0">
                <a:solidFill>
                  <a:srgbClr val="898781"/>
                </a:solidFill>
              </a:rPr>
              <a:t>b004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5230368"/>
            <a:ext cx="4114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898781"/>
                </a:solidFill>
              </a:rPr>
              <a:t>BYLLM: ONE MISS · WHY IT WINS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5431536"/>
            <a:ext cx="41148" cy="9692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5431536"/>
            <a:ext cx="3931920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0B0B0B"/>
                </a:solidFill>
              </a:rPr>
              <a:t>Single error: replied to a polite “no action needed” closure (b003).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52514E"/>
                </a:solidFill>
              </a:rPr>
              <a:t>Typed by-llm functions return structured objects and code invokes the tools — “claimed but never drafted” is impossible by construction.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11201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781"/>
                </a:solidFill>
              </a:rPr>
              <a:t>6 batches · 29 emails · 13 expected drafts · mock Gmail harness (drafts captured, never sent)      |      gpt-4o agents + gpt-4o judge, temp 0 · single run — repeat 3–5× for stable means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98781"/>
                </a:solidFill>
              </a:rPr>
              <a:t>JACAGENTCOMPARISON  ·  EMAIL AUTO-RESPONSE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0B0B0B"/>
                </a:solidFill>
              </a:rPr>
              <a:t>Evaluation metrics — three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49640" y="60350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>
                <a:solidFill>
                  <a:srgbClr val="898781"/>
                </a:solidFill>
              </a:rPr>
              <a:t>values:   </a:t>
            </a:r>
            <a:r>
              <a:rPr sz="1000" b="0">
                <a:solidFill>
                  <a:srgbClr val="2A78D6"/>
                </a:solidFill>
              </a:rPr>
              <a:t>■ byLLM</a:t>
            </a:r>
            <a:r>
              <a:rPr sz="1000" b="0">
                <a:solidFill>
                  <a:srgbClr val="898781"/>
                </a:solidFill>
              </a:rPr>
              <a:t>    </a:t>
            </a:r>
            <a:r>
              <a:rPr sz="1000" b="0">
                <a:solidFill>
                  <a:srgbClr val="EB6834"/>
                </a:solidFill>
              </a:rPr>
              <a:t>■ CrewAI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98448"/>
            <a:ext cx="3602736" cy="466344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426464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898781"/>
                </a:solidFill>
              </a:rPr>
              <a:t>FILTERING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4592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0B0B0B"/>
                </a:solidFill>
              </a:rPr>
              <a:t>Did replies go to exactly the right emails?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048256"/>
            <a:ext cx="329184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0B0B"/>
                </a:solidFill>
              </a:rPr>
              <a:t>Precision</a:t>
            </a:r>
            <a:r>
              <a:rPr sz="1050" b="1">
                <a:solidFill>
                  <a:srgbClr val="2A78D6"/>
                </a:solidFill>
              </a:rPr>
              <a:t>   0.93</a:t>
            </a:r>
            <a:r>
              <a:rPr sz="900" b="0">
                <a:solidFill>
                  <a:srgbClr val="898781"/>
                </a:solidFill>
              </a:rPr>
              <a:t> / </a:t>
            </a:r>
            <a:r>
              <a:rPr sz="1050" b="1">
                <a:solidFill>
                  <a:srgbClr val="EB6834"/>
                </a:solidFill>
              </a:rPr>
              <a:t>0.44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52514E"/>
                </a:solidFill>
              </a:rPr>
              <a:t>Of the drafts written, the share answering emails that truly need a reply; unmatched drafts count against.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898781"/>
                </a:solidFill>
              </a:rPr>
              <a:t>vs should_respond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980944"/>
            <a:ext cx="329184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0B0B"/>
                </a:solidFill>
              </a:rPr>
              <a:t>Recall</a:t>
            </a:r>
            <a:r>
              <a:rPr sz="1050" b="1">
                <a:solidFill>
                  <a:srgbClr val="2A78D6"/>
                </a:solidFill>
              </a:rPr>
              <a:t>   1.00</a:t>
            </a:r>
            <a:r>
              <a:rPr sz="900" b="0">
                <a:solidFill>
                  <a:srgbClr val="898781"/>
                </a:solidFill>
              </a:rPr>
              <a:t> / </a:t>
            </a:r>
            <a:r>
              <a:rPr sz="1050" b="1">
                <a:solidFill>
                  <a:srgbClr val="EB6834"/>
                </a:solidFill>
              </a:rPr>
              <a:t>0.31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52514E"/>
                </a:solidFill>
              </a:rPr>
              <a:t>Of the emails needing a reply, the share that actually got one.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898781"/>
                </a:solidFill>
              </a:rPr>
              <a:t>vs should_respond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913632"/>
            <a:ext cx="329184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0B0B"/>
                </a:solidFill>
              </a:rPr>
              <a:t>Draft ↔ email matching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52514E"/>
                </a:solidFill>
              </a:rPr>
              <a:t>By recipient address first, then subject overlap — a wrong-address draft still counts as an attempt, dinging recipient match instead of recall.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1298448"/>
            <a:ext cx="3602736" cy="466344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1426464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898781"/>
                </a:solidFill>
              </a:rPr>
              <a:t>DRAFTING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64592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0B0B0B"/>
                </a:solidFill>
              </a:rPr>
              <a:t>Did the work actually get done?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048256"/>
            <a:ext cx="329184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0B0B"/>
                </a:solidFill>
              </a:rPr>
              <a:t>Completion rate</a:t>
            </a:r>
            <a:r>
              <a:rPr sz="1050" b="1">
                <a:solidFill>
                  <a:srgbClr val="2A78D6"/>
                </a:solidFill>
              </a:rPr>
              <a:t>   13/13</a:t>
            </a:r>
            <a:r>
              <a:rPr sz="900" b="0">
                <a:solidFill>
                  <a:srgbClr val="898781"/>
                </a:solidFill>
              </a:rPr>
              <a:t> / </a:t>
            </a:r>
            <a:r>
              <a:rPr sz="1050" b="1">
                <a:solidFill>
                  <a:srgbClr val="EB6834"/>
                </a:solidFill>
              </a:rPr>
              <a:t>4/13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52514E"/>
                </a:solidFill>
              </a:rPr>
              <a:t>Emails needing a reply that actually got a draft — catches replies claimed in text but never created.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898781"/>
                </a:solidFill>
              </a:rPr>
              <a:t>vs should_respond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980944"/>
            <a:ext cx="329184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0B0B"/>
                </a:solidFill>
              </a:rPr>
              <a:t>Recipient match</a:t>
            </a:r>
            <a:r>
              <a:rPr sz="1050" b="1">
                <a:solidFill>
                  <a:srgbClr val="2A78D6"/>
                </a:solidFill>
              </a:rPr>
              <a:t>   1.00</a:t>
            </a:r>
            <a:r>
              <a:rPr sz="900" b="0">
                <a:solidFill>
                  <a:srgbClr val="898781"/>
                </a:solidFill>
              </a:rPr>
              <a:t> / </a:t>
            </a:r>
            <a:r>
              <a:rPr sz="1050" b="1">
                <a:solidFill>
                  <a:srgbClr val="EB6834"/>
                </a:solidFill>
              </a:rPr>
              <a:t>0.75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52514E"/>
                </a:solidFill>
              </a:rPr>
              <a:t>Draft's To: address equals the ground-truth recipient.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898781"/>
                </a:solidFill>
              </a:rPr>
              <a:t>vs expected_recipient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3913632"/>
            <a:ext cx="329184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0B0B"/>
                </a:solidFill>
              </a:rPr>
              <a:t>Redundant drafts</a:t>
            </a:r>
            <a:r>
              <a:rPr sz="1050" b="1">
                <a:solidFill>
                  <a:srgbClr val="2A78D6"/>
                </a:solidFill>
              </a:rPr>
              <a:t>   0</a:t>
            </a:r>
            <a:r>
              <a:rPr sz="900" b="0">
                <a:solidFill>
                  <a:srgbClr val="898781"/>
                </a:solidFill>
              </a:rPr>
              <a:t> / </a:t>
            </a:r>
            <a:r>
              <a:rPr sz="1050" b="1">
                <a:solidFill>
                  <a:srgbClr val="EB6834"/>
                </a:solidFill>
              </a:rPr>
              <a:t>0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52514E"/>
                </a:solidFill>
              </a:rPr>
              <a:t>Extra drafts for an email that already has 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4846320"/>
            <a:ext cx="329184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0B0B"/>
                </a:solidFill>
              </a:rPr>
              <a:t>Drafts to owner</a:t>
            </a:r>
            <a:r>
              <a:rPr sz="1050" b="1">
                <a:solidFill>
                  <a:srgbClr val="2A78D6"/>
                </a:solidFill>
              </a:rPr>
              <a:t>   0</a:t>
            </a:r>
            <a:r>
              <a:rPr sz="900" b="0">
                <a:solidFill>
                  <a:srgbClr val="898781"/>
                </a:solidFill>
              </a:rPr>
              <a:t> / </a:t>
            </a:r>
            <a:r>
              <a:rPr sz="1050" b="1">
                <a:solidFill>
                  <a:srgbClr val="EB6834"/>
                </a:solidFill>
              </a:rPr>
              <a:t>3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52514E"/>
                </a:solidFill>
              </a:rPr>
              <a:t>Drafts mistakenly addressed to the mailbox owner.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898781"/>
                </a:solidFill>
              </a:rPr>
              <a:t>vs owner_email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1298448"/>
            <a:ext cx="3602736" cy="4663440"/>
          </a:xfrm>
          <a:prstGeom prst="roundRect">
            <a:avLst>
              <a:gd name="adj" fmla="val 6000"/>
            </a:avLst>
          </a:prstGeom>
          <a:noFill/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1426464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898781"/>
                </a:solidFill>
              </a:rPr>
              <a:t>LLM-JUDGE (GPT-4O)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64592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0B0B0B"/>
                </a:solidFill>
              </a:rPr>
              <a:t>Is the draft good enough to send?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048256"/>
            <a:ext cx="329184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0B0B"/>
                </a:solidFill>
              </a:rPr>
              <a:t>Key-point coverage</a:t>
            </a:r>
            <a:r>
              <a:rPr sz="1050" b="1">
                <a:solidFill>
                  <a:srgbClr val="2A78D6"/>
                </a:solidFill>
              </a:rPr>
              <a:t>   0.87</a:t>
            </a:r>
            <a:r>
              <a:rPr sz="900" b="0">
                <a:solidFill>
                  <a:srgbClr val="898781"/>
                </a:solidFill>
              </a:rPr>
              <a:t> / </a:t>
            </a:r>
            <a:r>
              <a:rPr sz="1050" b="1">
                <a:solidFill>
                  <a:srgbClr val="EB6834"/>
                </a:solidFill>
              </a:rPr>
              <a:t>0.55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52514E"/>
                </a:solidFill>
              </a:rPr>
              <a:t>Share of the required points the draft addresses.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898781"/>
                </a:solidFill>
              </a:rPr>
              <a:t>vs key_points_to_address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2980944"/>
            <a:ext cx="329184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0B0B"/>
                </a:solidFill>
              </a:rPr>
              <a:t>Tone match (1–5)</a:t>
            </a:r>
            <a:r>
              <a:rPr sz="1050" b="1">
                <a:solidFill>
                  <a:srgbClr val="2A78D6"/>
                </a:solidFill>
              </a:rPr>
              <a:t>   4.9</a:t>
            </a:r>
            <a:r>
              <a:rPr sz="900" b="0">
                <a:solidFill>
                  <a:srgbClr val="898781"/>
                </a:solidFill>
              </a:rPr>
              <a:t> / </a:t>
            </a:r>
            <a:r>
              <a:rPr sz="1050" b="1">
                <a:solidFill>
                  <a:srgbClr val="EB6834"/>
                </a:solidFill>
              </a:rPr>
              <a:t>4.8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52514E"/>
                </a:solidFill>
              </a:rPr>
              <a:t>Matches the expected tone and the thread's own style.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898781"/>
                </a:solidFill>
              </a:rPr>
              <a:t>vs expected_tone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3913632"/>
            <a:ext cx="329184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0B0B"/>
                </a:solidFill>
              </a:rPr>
              <a:t>Factuality (1–5)</a:t>
            </a:r>
            <a:r>
              <a:rPr sz="1050" b="1">
                <a:solidFill>
                  <a:srgbClr val="2A78D6"/>
                </a:solidFill>
              </a:rPr>
              <a:t>   4.9</a:t>
            </a:r>
            <a:r>
              <a:rPr sz="900" b="0">
                <a:solidFill>
                  <a:srgbClr val="898781"/>
                </a:solidFill>
              </a:rPr>
              <a:t> / </a:t>
            </a:r>
            <a:r>
              <a:rPr sz="1050" b="1">
                <a:solidFill>
                  <a:srgbClr val="EB6834"/>
                </a:solidFill>
              </a:rPr>
              <a:t>4.8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52514E"/>
                </a:solidFill>
              </a:rPr>
              <a:t>No invented facts, commitments, names, or prices.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8744" y="4846320"/>
            <a:ext cx="329184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B0B0B"/>
                </a:solidFill>
              </a:rPr>
              <a:t>Overall (1–5)</a:t>
            </a:r>
            <a:r>
              <a:rPr sz="1050" b="1">
                <a:solidFill>
                  <a:srgbClr val="2A78D6"/>
                </a:solidFill>
              </a:rPr>
              <a:t>   4.5</a:t>
            </a:r>
            <a:r>
              <a:rPr sz="900" b="0">
                <a:solidFill>
                  <a:srgbClr val="898781"/>
                </a:solidFill>
              </a:rPr>
              <a:t> / </a:t>
            </a:r>
            <a:r>
              <a:rPr sz="1050" b="1">
                <a:solidFill>
                  <a:srgbClr val="EB6834"/>
                </a:solidFill>
              </a:rPr>
              <a:t>3.8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52514E"/>
                </a:solidFill>
              </a:rPr>
              <a:t>Ready to send with no edits.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144768"/>
            <a:ext cx="11201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781"/>
                </a:solidFill>
              </a:rPr>
              <a:t>Also tracked, both agents clean: </a:t>
            </a:r>
            <a:r>
              <a:rPr sz="900" b="1">
                <a:solidFill>
                  <a:srgbClr val="006300"/>
                </a:solidFill>
              </a:rPr>
              <a:t>safety</a:t>
            </a:r>
            <a:r>
              <a:rPr sz="900" b="0">
                <a:solidFill>
                  <a:srgbClr val="898781"/>
                </a:solidFill>
              </a:rPr>
              <a:t> (no reply to the prompt-injection email, no cross-email content leaks) · </a:t>
            </a:r>
            <a:r>
              <a:rPr sz="900" b="1">
                <a:solidFill>
                  <a:srgbClr val="006300"/>
                </a:solidFill>
              </a:rPr>
              <a:t>tool discipline</a:t>
            </a:r>
            <a:r>
              <a:rPr sz="900" b="0">
                <a:solidFill>
                  <a:srgbClr val="898781"/>
                </a:solidFill>
              </a:rPr>
              <a:t> (no hallucinated thread IDs, no Create-Draft errors).  The judge runs only on drafts for should-respond emails — CrewAI's scores cover its 4 surviving drafts.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