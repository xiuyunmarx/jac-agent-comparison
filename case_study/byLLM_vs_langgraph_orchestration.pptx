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6"/>
                </a:solidFill>
                <a:latin typeface="Calibri"/>
              </a:rPr>
              <a:t>CODING AGENT  ·  TWO-FRAMEWORK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10424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A2027"/>
                </a:solidFill>
                <a:latin typeface="Calibri"/>
              </a:rPr>
              <a:t>byLLM vs. LangGraph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2600" b="0">
                <a:solidFill>
                  <a:srgbClr val="45505A"/>
                </a:solidFill>
                <a:latin typeface="Calibri"/>
              </a:rPr>
              <a:t>The orchestration layer, line by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224528"/>
            <a:ext cx="2926080" cy="27432"/>
          </a:xfrm>
          <a:prstGeom prst="rect">
            <a:avLst/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52628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5505A"/>
                </a:solidFill>
                <a:latin typeface="Calibri"/>
              </a:rPr>
              <a:t>Same agent. Same ten tools. Same string contracts. Same limits.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2027"/>
                </a:solidFill>
                <a:latin typeface="Calibri"/>
              </a:rPr>
              <a:t>463 lines of Jac  vs.  730 lines of Python  —  and one of them has already drifted from its own spec.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alibri"/>
              </a:rPr>
              <a:t>byLLM/orchestrator.jac   ·   langgraph/orchestrator.py + langgraph/phase_agent.py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1A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2027"/>
                </a:solidFill>
                <a:latin typeface="Calibri"/>
              </a:rPr>
              <a:t>SCOPE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What is actually being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3385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5505A"/>
                </a:solidFill>
                <a:latin typeface="Calibri"/>
              </a:rPr>
              <a:t>Raw repo line counts are not comparable — each side implements something the other does not. Isolating the orchestration layer removes the confound.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55648"/>
            <a:ext cx="11073384" cy="93268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8A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105613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949E"/>
                </a:solidFill>
                <a:latin typeface="Calibri"/>
              </a:rPr>
              <a:t>EXCLUDED FROM THE COMPARISON — NOT A VERBOSITY DIFFERENCE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45505A"/>
                </a:solidFill>
                <a:latin typeface="Calibri"/>
              </a:rPr>
              <a:t>byLLM/nodes/explore.jac carries ~90 lines of served-window loop prevention that langgraph/tools/explore.py does not implement at all.   byLLM/logger/ (451 lines) writes full per-call transcripts; LangGraph has no equivalent.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949E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880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6"/>
                </a:solidFill>
                <a:latin typeface="Calibri"/>
              </a:rPr>
              <a:t>byLLM (Jac)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8803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4B8A"/>
                </a:solidFill>
                <a:latin typeface="Calibri"/>
              </a:rPr>
              <a:t>LangGraph (Python)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2880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949E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154679"/>
            <a:ext cx="11073384" cy="18288"/>
          </a:xfrm>
          <a:prstGeom prst="rect">
            <a:avLst/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00984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5505A"/>
                </a:solidFill>
                <a:latin typeface="Calibri"/>
              </a:rPr>
              <a:t>Orchestration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300984"/>
            <a:ext cx="35661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6B66"/>
                </a:solidFill>
                <a:latin typeface="Calibri"/>
              </a:rPr>
              <a:t>463 lines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A949E"/>
                </a:solidFill>
                <a:latin typeface="Consolas"/>
              </a:rPr>
              <a:t>orchestrator.jac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300984"/>
            <a:ext cx="3429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4B8A"/>
                </a:solidFill>
                <a:latin typeface="Calibri"/>
              </a:rPr>
              <a:t>730 lines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A949E"/>
                </a:solidFill>
                <a:latin typeface="Consolas"/>
              </a:rPr>
              <a:t>orchestrator.py + phase_agent.py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33009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6B66"/>
                </a:solidFill>
                <a:latin typeface="Calibri"/>
              </a:rPr>
              <a:t>−37%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105655"/>
            <a:ext cx="11073384" cy="9144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51960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5505A"/>
                </a:solidFill>
                <a:latin typeface="Calibri"/>
              </a:rPr>
              <a:t>Framework symbols to hold in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251960"/>
            <a:ext cx="35661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6B66"/>
                </a:solidFill>
                <a:latin typeface="Calibri"/>
              </a:rPr>
              <a:t>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A949E"/>
                </a:solidFill>
                <a:latin typeface="Consolas"/>
              </a:rPr>
              <a:t>Model, BaseLLM, IterationAction,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A949E"/>
                </a:solidFill>
                <a:latin typeface="Consolas"/>
              </a:rPr>
              <a:t>IterationContext, mark_serialize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251960"/>
            <a:ext cx="3429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4B8A"/>
                </a:solidFill>
                <a:latin typeface="Calibri"/>
              </a:rPr>
              <a:t>18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A949E"/>
                </a:solidFill>
                <a:latin typeface="Consolas"/>
              </a:rPr>
              <a:t>StateGraph, ToolNode, add_messages, TypedDict,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A949E"/>
                </a:solidFill>
                <a:latin typeface="Consolas"/>
              </a:rPr>
              <a:t>Annotated, bind_tools, with_structured_output,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4251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6B66"/>
                </a:solidFill>
                <a:latin typeface="Calibri"/>
              </a:rPr>
              <a:t>3.6×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056632"/>
            <a:ext cx="11073384" cy="9144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20293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5505A"/>
                </a:solidFill>
                <a:latin typeface="Calibri"/>
              </a:rPr>
              <a:t>Comment + docstring density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20293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6B66"/>
                </a:solidFill>
                <a:latin typeface="Calibri"/>
              </a:rPr>
              <a:t>17.3%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5202936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4B8A"/>
                </a:solidFill>
                <a:latin typeface="Calibri"/>
              </a:rPr>
              <a:t>13.3%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715000"/>
            <a:ext cx="11073384" cy="9144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86130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5505A"/>
                </a:solidFill>
                <a:latin typeface="Calibri"/>
              </a:rPr>
              <a:t>Loop brakes implemented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861304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6B66"/>
                </a:solidFill>
                <a:latin typeface="Calibri"/>
              </a:rPr>
              <a:t>2  (identical ×3, same-tool ×6)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861304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4B8A"/>
                </a:solidFill>
                <a:latin typeface="Calibri"/>
              </a:rPr>
              <a:t>1  (identical ×3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73368"/>
            <a:ext cx="11073384" cy="9144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6B66"/>
                </a:solidFill>
                <a:latin typeface="Calibri"/>
              </a:rPr>
              <a:t>ADVANTAGE 1 / 6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The ReAct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3385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5505A"/>
                </a:solidFill>
                <a:latin typeface="Calibri"/>
              </a:rPr>
              <a:t>Four policies — tools, iteration cap, progress hook, result clipping — stated as keyword arguments versus rebuilt from primitives.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B66"/>
                </a:solidFill>
                <a:latin typeface="Calibri"/>
              </a:rPr>
              <a:t>byLLM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orchestrator.jac:101–109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11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5285232" cy="34290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67712"/>
            <a:ext cx="41148" cy="3319272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31720"/>
            <a:ext cx="4937760" cy="3191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6"/>
                </a:solidFill>
                <a:latin typeface="Consolas"/>
              </a:rPr>
              <a:t>def run_phase(directive: str) -&gt; str by agent_model(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    tools=rt.phase_tools,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    conversation=rt.phase_ctx,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    temperature=0.0,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    max_tokens=4096,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6"/>
                </a:solidFill>
                <a:latin typeface="Consolas"/>
              </a:rPr>
              <a:t>    max_react_iterations=MAX_REACT_ITERATIONS,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6"/>
                </a:solidFill>
                <a:latin typeface="Consolas"/>
              </a:rPr>
              <a:t>    on_iteration=progress_guard,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6"/>
                </a:solidFill>
                <a:latin typeface="Consolas"/>
              </a:rPr>
              <a:t>    max_tool_result_length=MAX_TOOL_RESULT_CHARS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);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38F9B"/>
                </a:solidFill>
                <a:latin typeface="Consolas"/>
              </a:rPr>
              <a:t># Typed -&gt; str, so the return value IS the phase summary.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38F9B"/>
                </a:solidFill>
                <a:latin typeface="Consolas"/>
              </a:rPr>
              <a:t># No message list to dig through afterwards.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B4B8A"/>
                </a:solidFill>
                <a:latin typeface="Calibri"/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phase_agent.py (all) + orchestrator.py:269-290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57232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267 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12848"/>
            <a:ext cx="5285232" cy="34290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267712"/>
            <a:ext cx="41148" cy="3319272"/>
          </a:xfrm>
          <a:prstGeom prst="rect">
            <a:avLst/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331720"/>
            <a:ext cx="4937760" cy="3191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class ReactState(TypedDict):        # :58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batch_signature(messages):      # :64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progress_guard(state):          # :77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route_after_model(state):       # :91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class SerialToolNode:               # :102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    #  exists only to UNDO ToolNode's parallel dispatch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    def __call__(self, state):      # :115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        ... clip(msg.content, ...)  # :127  manual clip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build_phase_agent(...):         # :135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    def call_model(state):          # :153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    def force_summary(state):       # :161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        #  + repairs dangling tool calls  (:167)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    graph.add_node / add_conditional_edges  # :183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def last_text(messages):            # :202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    #  dig the summary back out of the message list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run_phase(agent, messages):     # :219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5AEB6"/>
                </a:solidFill>
                <a:latin typeface="Consolas"/>
              </a:rPr>
              <a:t>orchestrator.py:272-290  make_phase_node  # message assembly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833872"/>
            <a:ext cx="11073384" cy="62179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80176"/>
            <a:ext cx="1056131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alibri"/>
              </a:rPr>
              <a:t>READ IT AS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45505A"/>
                </a:solidFill>
                <a:latin typeface="Calibri"/>
              </a:rPr>
              <a:t>Every kwarg on the left is a function, a node, or a graph edge on the right. The intent lives in one place in Jac; in Python you reconstruct it from eight.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6B66"/>
                </a:solidFill>
                <a:latin typeface="Calibri"/>
              </a:rPr>
              <a:t>ADVANTAGE 2 / 6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The progress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3385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5505A"/>
                </a:solidFill>
                <a:latin typeface="Calibri"/>
              </a:rPr>
              <a:t>byLLM's hook returns an action. LangGraph has no hook that can end a loop, so the guard degrades into a router and the abort becomes a node.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B66"/>
                </a:solidFill>
                <a:latin typeface="Calibri"/>
              </a:rPr>
              <a:t>byLLM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orchestrator.jac:124–136  ·  wired at :107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 KWARG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5285232" cy="324612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67712"/>
            <a:ext cx="41148" cy="3136391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31720"/>
            <a:ext cx="4937760" cy="3008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def progress_guard(ctx: IterationContext)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-&gt; IterationAction {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rt.recent_sigs.append(f"{ctx.last_tool}|{ctx.last_result}");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rt.recent_tools.append(str(ctx.last_tool));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if all_alike(rt.recent_sigs, REPEAT_ABORT_THRESHOLD) {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onsolas"/>
              </a:rPr>
              <a:t>    return IterationAction.ABORT_WITH_SUMMARY;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onsolas"/>
              </a:rPr>
              <a:t>  if all_alike(rt.recent_tools, SAME_TOOL_ABORT_THRESHOLD) {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onsolas"/>
              </a:rPr>
              <a:t>    return IterationAction.ABORT_WITH_SUMMARY;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return IterationAction.CONTINUE;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# entire wiring, orchestrator.jac:107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#     on_iteration=progress_guard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B4B8A"/>
                </a:solidFill>
                <a:latin typeface="Calibri"/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phase_agent.py:77–89, 91–100, 161–181, 193–198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57232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 SITES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12848"/>
            <a:ext cx="5285232" cy="324612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267712"/>
            <a:ext cx="41148" cy="3136391"/>
          </a:xfrm>
          <a:prstGeom prst="rect">
            <a:avLst/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331720"/>
            <a:ext cx="4937760" cy="3008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def progress_guard(state: ReactState) -&gt; str:      # :77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sigs = state.get("recent_sigs") or []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if len(sigs) &gt;= REPEAT_ABORT_THRESHOLD: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tail = sigs[len(sigs) - REPEAT_ABORT_THRESHOLD:]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if all(s == tail[0] for s in tail):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            return "summarize"   # a NODE NAME, not an action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return "model"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force_summary(state):                          # :161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    #  21 lines: the abort is now a whole graph node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graph.add_conditional_edges("tools", progress_guard,  # :193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{"model": "model", "summarize": "summarize"})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SAME_TOOL_ABORT_THRESHOLD   -&gt;   NOT IMPLEMENTED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650992"/>
            <a:ext cx="11073384" cy="80467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B045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97296"/>
            <a:ext cx="1056131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alibri"/>
              </a:rPr>
              <a:t>THE FRICTION HAS A COST, AND IT IS MEASURABLE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45505A"/>
                </a:solidFill>
                <a:latin typeface="Calibri"/>
              </a:rPr>
              <a:t>byLLM ships two brakes. The same-tool ×6 brake (orchestrator.jac:61) is justified in-comment by a measured astropy run: 5 of 8 phase laps stalled this way, burning 109 of 162 LLM calls and 75% of the run's prompt tokens. That second brake has no counterpart anywhere in langgraph/.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6B66"/>
                </a:solidFill>
                <a:latin typeface="Calibri"/>
              </a:rPr>
              <a:t>ADVANTAGE 3 / 6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Routing: the decision lives on the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3385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5505A"/>
                </a:solidFill>
                <a:latin typeface="Calibri"/>
              </a:rPr>
              <a:t>One judgement call — "is the objective actually met?" — expressed at the site where it is used, versus assembled from six separate declarations.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B66"/>
                </a:solidFill>
                <a:latin typeface="Calibri"/>
              </a:rPr>
              <a:t>byLLM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orchestrator.jac:155–158, 394–400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 SITES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5285232" cy="329184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67712"/>
            <a:ext cx="41148" cy="3182112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31720"/>
            <a:ext cx="4937760" cy="3054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edge Flow: Phase --&gt; Phase {        # :155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has reason: str = "";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}   # the topology documents itself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impl Verifying.run with CodeAgent entry {   # :384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...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onsolas"/>
              </a:rPr>
              <a:t>    visit [edge -&gt;:Flow:-&gt;] by agent_model(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select=1,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intent="Choose Finished only if the run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    demonstrated the objective is complete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    and correct -- not merely attempted.",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incl_info={"Progress so far":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       visitor.rendered()}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);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# The LLM picks among edges that actually exist.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B4B8A"/>
                </a:solidFill>
                <a:latin typeface="Calibri"/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orchestrator.py:187, 301, 313, 321, 375, 402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57232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 SITES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12848"/>
            <a:ext cx="5285232" cy="329184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267712"/>
            <a:ext cx="41148" cy="3182112"/>
          </a:xfrm>
          <a:prstGeom prst="rect">
            <a:avLst/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331720"/>
            <a:ext cx="4937760" cy="3054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class Verdict(BaseModel):                        # :301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met: bool = Field(description="True only if ...")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OBJECTIVE_MET_SYSTEM = ("Decide whether ...")     # :313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def objective_met(model, usage, objective, evidence):  # :321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try: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structured = model.with_structured_output(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             Verdict, include_raw=True)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out = structured.invoke([SystemMessage(...), ...])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if isinstance(out, dict):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if out.get("raw"): usage.track(out["raw"])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parsed = out.get("parsed")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else: parsed = out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return bool(parsed.met)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    except Exception: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        return True   # silent: always routes Finished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route_verifying(state): ...                   # :384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687568"/>
            <a:ext cx="11073384" cy="65836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33872"/>
            <a:ext cx="10561319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alibri"/>
              </a:rPr>
              <a:t>THE SHAPE OF THE DIFFERENCE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45505A"/>
                </a:solidFill>
                <a:latin typeface="Calibri"/>
              </a:rPr>
              <a:t>byLLM puts the decision on the edge, so the clause that declares a transition is the clause that takes it. LangGraph splits declaration (FLOW) from decision (routers) — and the next slide shows what that split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B04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0451E"/>
                </a:solidFill>
                <a:latin typeface="Calibri"/>
              </a:rPr>
              <a:t>ADVANTAGE 3 / 6  ·  CONSEQUENCE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The split has already produced dead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3385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5505A"/>
                </a:solidFill>
                <a:latin typeface="Calibri"/>
              </a:rPr>
              <a:t>The FLOW table exists to keep the topology in one place. It no longer describes what the graph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B4B8A"/>
                </a:solidFill>
                <a:latin typeface="Calibri"/>
              </a:rPr>
              <a:t>DECLARED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langgraph/orchestrator.py:187–193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5285232" cy="1874519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67712"/>
            <a:ext cx="41148" cy="1764791"/>
          </a:xfrm>
          <a:prstGeom prst="rect">
            <a:avLst/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31720"/>
            <a:ext cx="4937760" cy="1636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FLOW: dict[str, tuple[str, ...]] = {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451E"/>
                </a:solidFill>
                <a:latin typeface="Consolas"/>
              </a:rPr>
              <a:t>    "Planning":  ("Exploring", FINISHED),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451E"/>
                </a:solidFill>
                <a:latin typeface="Consolas"/>
              </a:rPr>
              <a:t>    "Exploring": ("Editing",   FINISHED),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    "Editing":   ("Verifying",),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    "Verifying": ("Editing",   FINISHED),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    FINISHED:    (),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B4B8A"/>
                </a:solidFill>
                <a:latin typeface="Calibri"/>
              </a:rPr>
              <a:t>IMPLEMENTED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langgraph/orchestrator.py:375–379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57232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ROUTERS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12848"/>
            <a:ext cx="5285232" cy="1874519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267712"/>
            <a:ext cx="41148" cy="1764791"/>
          </a:xfrm>
          <a:prstGeom prst="rect">
            <a:avLst/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331720"/>
            <a:ext cx="4937760" cy="1636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def route_planning(state) -&gt; str: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451E"/>
                </a:solidFill>
                <a:latin typeface="Consolas"/>
              </a:rPr>
              <a:t>    return FINISHED if exhausted(state) else "Exploring"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def route_exploring(state) -&gt; str: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451E"/>
                </a:solidFill>
                <a:latin typeface="Consolas"/>
              </a:rPr>
              <a:t>    return FINISHED if exhausted(state) else "Editing"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38F9B"/>
                </a:solidFill>
                <a:latin typeface="Consolas"/>
              </a:rPr>
              <a:t># FINISHED reachable ONLY on budget exhaustion.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61104"/>
            <a:ext cx="11073384" cy="8686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B045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07408"/>
            <a:ext cx="10561319" cy="5760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alibri"/>
              </a:rPr>
              <a:t>BOTH SHORTCUT EDGES ARE UNREACHABLE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45505A"/>
                </a:solidFill>
                <a:latin typeface="Calibri"/>
              </a:rPr>
              <a:t>byLLM wires these two at orchestrator.jac:271 and :274 — "the request was a question the plan / the code already answers" — and the LLM can genuinely take them. In LangGraph they are declared and never taken. Declared topology and real behaviour have drifted apart: exactly what the FLOW table was introduced to prevent.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358384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B66"/>
                </a:solidFill>
                <a:latin typeface="Calibri"/>
              </a:rPr>
              <a:t>byLLM — the same two edges,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614416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orchestrator.jac:271, 274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5340096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REACHABLE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797296"/>
            <a:ext cx="11073384" cy="841248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852159"/>
            <a:ext cx="41148" cy="73152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916168"/>
            <a:ext cx="10725911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planning  +&gt;: Flow(reason="shortcut: the request was a question the plan already answers")   :+&gt; finished;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exploring +&gt;: Flow(reason="shortcut: the request was a question the code just read answers") :+&gt; finished;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1A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2027"/>
                </a:solidFill>
                <a:latin typeface="Calibri"/>
              </a:rPr>
              <a:t>ADVANTAGE 4 / 6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The capability boundary  —  closest to a draw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3385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5505A"/>
                </a:solidFill>
                <a:latin typeface="Calibri"/>
              </a:rPr>
              <a:t>Which phase may call which tool. Both sides keep it as inspectable data; the difference is the tax on every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B66"/>
                </a:solidFill>
                <a:latin typeface="Calibri"/>
              </a:rPr>
              <a:t>byLLM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orchestrator.jac:143–152, 167–174, 246–251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GRAPH RELATION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5285232" cy="301752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67712"/>
            <a:ext cx="41148" cy="2907791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31720"/>
            <a:ext cx="4937760" cy="2779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enum ToolCat { Read="read", Write="write",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   Run="run", Track="track" 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node Tool { has fn: Callable;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has category: str = "read"; 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onsolas"/>
              </a:rPr>
              <a:t>edge Exposes: Phase --&gt; Tool {}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def tools -&gt; list[Callable] {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onsolas"/>
              </a:rPr>
              <a:t>    return [t.fn for t in [self -&gt;:Exposes:-&gt;]];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# the grant is a queryable relation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# tools are passed as bound methods, directly: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expose(editing, [rt.editor.write_file,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     rt.editor.replace_in_file], ToolCat.Write);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B4B8A"/>
                </a:solidFill>
                <a:latin typeface="Calibri"/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orchestrator.py:133–162, 200–234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57232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FROZEN TUPLE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12848"/>
            <a:ext cx="5285232" cy="301752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267712"/>
            <a:ext cx="41148" cy="2907791"/>
          </a:xfrm>
          <a:prstGeom prst="rect">
            <a:avLst/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331720"/>
            <a:ext cx="4937760" cy="2779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@dataclass(frozen=True)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class ToolSpec:  tool: BaseTool; category: str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@dataclass(frozen=True)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class Phase: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title: str; goal: str = ""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4B8A"/>
                </a:solidFill>
                <a:latin typeface="Consolas"/>
              </a:rPr>
              <a:t>    exposes: tuple[ToolSpec, ...] = ()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# all five phases in one readable literal  (:210-232)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# but every tool needs a factory first: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def write_file_tool(self) -&gt; BaseTool:      # edit.py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return StructuredTool.from_function(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func=self.write_file, name="write_file",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description=WRITE_FILE_DOC,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args_schema=WriteFileArgs)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413248"/>
            <a:ext cx="11073384" cy="100584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8A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59552"/>
            <a:ext cx="1056131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949E"/>
                </a:solidFill>
                <a:latin typeface="Calibri"/>
              </a:rPr>
              <a:t>CALL IT EVEN — WITH ONE HIDDEN TAX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45505A"/>
                </a:solidFill>
                <a:latin typeface="Calibri"/>
              </a:rPr>
              <a:t>LangGraph's flat list literal is arguably easier for a Python reader to scan than byLLM's edge query, and both are assertable in tests. The tax is upstream: every LangGraph tool needs an *Args pydantic model, a *_DOC constant and a *_tool() factory (tools/plan.py:139–157, tools/explore.py:316–340). byLLM derives the schema from the signature and attaches docs with sem. plan.jac is 116 lines; plan.py is 157 for identical behaviour.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6B66"/>
                </a:solidFill>
                <a:latin typeface="Calibri"/>
              </a:rPr>
              <a:t>ADVANTAGE 5 / 6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Phase declaration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3385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5505A"/>
                </a:solidFill>
                <a:latin typeface="Calibri"/>
              </a:rPr>
              <a:t>Identity, prompt text and behaviour hook in one block per phase — versus split across a constant block, a table entry and a closure.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B66"/>
                </a:solidFill>
                <a:latin typeface="Calibri"/>
              </a:rPr>
              <a:t>byLLM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orchestrator.jac:204–244  ·  impls at 340–406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 LINES / PHASE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5285232" cy="32004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67712"/>
            <a:ext cx="41148" cy="3090672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31720"/>
            <a:ext cx="4937760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node Editing(Phase) {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has title: str = "Editing";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has effect: str = "Spends one step and writes to disk.";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has goal: str = "Make the changes. Use write_file for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new files and replace_in_file for surgical edits.";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onsolas"/>
              </a:rPr>
              <a:t>    can run with CodeAgent entry;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impl Editing.run with CodeAgent entry {      # :376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visitor.steps += 1;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summary = self.work(visitor.objective, visitor.rendered());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visitor.record(self.title, summary);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onsolas"/>
              </a:rPr>
              <a:t>    visitor.edits_made = True;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visit [-&gt;:Flow:-&gt;][?:Verifying];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B4B8A"/>
                </a:solidFill>
                <a:latin typeface="Calibri"/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orchestrator.py:164–181, 205–232, 269–290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57232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 SPLIT SITES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12848"/>
            <a:ext cx="5285232" cy="32004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267712"/>
            <a:ext cx="41148" cy="3090672"/>
          </a:xfrm>
          <a:prstGeom prst="rect">
            <a:avLst/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331720"/>
            <a:ext cx="4937760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EDITING_GOAL = ("Make the changes. Use ...")   # :172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Phase(title="Editing", goal=EDITING_GOAL,      # :217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exposes=common + expose(write_tools, ToolCat.WRITE)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         + expose(run_tools,   ToolCat.RUN)),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make_phase_node(phase, runtime, agent):    # :269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def node(state: AgentState) -&gt; dict[str, Any]: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...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update = {"steps": state["steps"] + 1,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      "ledger": [f"### {phase.title}\n{summary}"],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          ...}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        if phase.title == "Editing":            # :287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            update["edits_made"] = True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return update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return node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96128"/>
            <a:ext cx="11073384" cy="7132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42432"/>
            <a:ext cx="1056131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alibri"/>
              </a:rPr>
              <a:t>THE TELL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45505A"/>
                </a:solidFill>
                <a:latin typeface="Calibri"/>
              </a:rPr>
              <a:t>One phase needing one different behaviour forces a string comparison inside a shared closure (orchestrator.py:287). In byLLM that is simply a different impl block — the dispatch is the language's, not a conditional you maintain.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6B66"/>
                </a:solidFill>
                <a:latin typeface="Calibri"/>
              </a:rPr>
              <a:t>ADVANTAGE 6 / 6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Run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3385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5505A"/>
                </a:solidFill>
                <a:latin typeface="Calibri"/>
              </a:rPr>
              <a:t>A walker carrying ordinary mutable fields, versus a TypedDict with reducers and a partial-update dict returned from every node.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B66"/>
                </a:solidFill>
                <a:latin typeface="Calibri"/>
              </a:rPr>
              <a:t>byLLM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orchestrator.jac:305–333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 BLOCK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5285232" cy="288036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67712"/>
            <a:ext cx="41148" cy="2770632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31720"/>
            <a:ext cx="4937760" cy="2642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walker CodeAgent {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has objective: str;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has max_steps: int = 10;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has steps: int = 0;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has _ledger: list[str] = [];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has answer: str = "";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has edits_made: bool = False;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def record(phase: str, summary: str) {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self._ledger.append(f"### {phase}\n{summary}");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def exhausted -&gt; bool {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return self.steps &gt;= self.max_steps;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onsolas"/>
              </a:rPr>
              <a:t>visitor.steps += 1;   # just an assignment  (:341)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B4B8A"/>
                </a:solidFill>
                <a:latin typeface="Calibri"/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onsolas"/>
              </a:rPr>
              <a:t>orchestrator.py:237–246, 248–254, 412–423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57232" y="1737360"/>
            <a:ext cx="1783080" cy="310896"/>
          </a:xfrm>
          <a:prstGeom prst="roundRect">
            <a:avLst>
              <a:gd name="adj" fmla="val 25000"/>
            </a:avLst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 BLOCKS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12848"/>
            <a:ext cx="5285232" cy="288036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267712"/>
            <a:ext cx="41148" cy="2770632"/>
          </a:xfrm>
          <a:prstGeom prst="rect">
            <a:avLst/>
          </a:prstGeom>
          <a:solidFill>
            <a:srgbClr val="6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331720"/>
            <a:ext cx="4937760" cy="2642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class AgentState(TypedDict):                     # :237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objective: str; max_steps: int; steps: int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    ledger: Annotated[list[str], operator.add]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answer: str; edits_made: bool; last_summary: str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onsolas"/>
              </a:rPr>
              <a:t>    phase_msgs: dict[str, list[BaseMessage]]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rendered(ledger): ...        # free fn on state  :248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exhausted(state):  ...       # free fn on state  :252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def initial_state(objective, max_steps): ...         :412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38F9B"/>
                </a:solidFill>
                <a:latin typeface="Consolas"/>
              </a:rPr>
              <a:t># and every node must return a partial-update dict: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return {"steps": state["steps"] + 1,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"ledger": [...], "last_summary": summary,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933"/>
                </a:solidFill>
                <a:latin typeface="Consolas"/>
              </a:rPr>
              <a:t>        "phase_msgs": {**state["phase_msgs"], title: produced}}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85232"/>
            <a:ext cx="11073384" cy="111556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B045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31536"/>
            <a:ext cx="10561319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451E"/>
                </a:solidFill>
                <a:latin typeface="Calibri"/>
              </a:rPr>
              <a:t>WHILE YOU ARE IN HERE — A BEHAVIOURAL DIVERGENCE TO SETTLE BEFORE THE A/B RUN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45505A"/>
                </a:solidFill>
                <a:latin typeface="Calibri"/>
              </a:rPr>
              <a:t>orchestrator.jac:195 resets _ctx to the system message alone on every phase visit; the comment at :186–194 cites the measurement (Editing's fourth lap arrived carrying four full pytest runs — 22k of its 28k prompt tokens).
orchestrator.py:275–277 does the opposite and keeps prior[1:]. The two sides make opposite choices on per-phase memory, which will show up directly in the token counts you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1A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2027"/>
                </a:solidFill>
                <a:latin typeface="Calibri"/>
              </a:rPr>
              <a:t>SUMMARY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Scorecard — orchestration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162763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6"/>
                </a:solidFill>
                <a:latin typeface="Calibri"/>
              </a:rPr>
              <a:t>byLLM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71616" y="1627632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4B8A"/>
                </a:solidFill>
                <a:latin typeface="Calibri"/>
              </a:rPr>
              <a:t>LangGraph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83664"/>
            <a:ext cx="11073384" cy="18288"/>
          </a:xfrm>
          <a:prstGeom prst="rect">
            <a:avLst/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949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2027"/>
                </a:solidFill>
                <a:latin typeface="Calibri"/>
              </a:rPr>
              <a:t>The ReAct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2696" y="201168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6B66"/>
                </a:solidFill>
                <a:latin typeface="Calibri"/>
              </a:rPr>
              <a:t>11 lines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jac:101–109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01168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4B8A"/>
                </a:solidFill>
                <a:latin typeface="Calibri"/>
              </a:rPr>
              <a:t>267 lines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phase_agent.py (all) + orch.py:269–290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17736" y="2002536"/>
            <a:ext cx="1051560" cy="256032"/>
          </a:xfrm>
          <a:prstGeom prst="roundRect">
            <a:avLst>
              <a:gd name="adj" fmla="val 30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byLLM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700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949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67004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2027"/>
                </a:solidFill>
                <a:latin typeface="Calibri"/>
              </a:rPr>
              <a:t>The progress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267004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6B66"/>
                </a:solidFill>
                <a:latin typeface="Calibri"/>
              </a:rPr>
              <a:t>1 kwarg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jac:124–136, :107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67004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4B8A"/>
                </a:solidFill>
                <a:latin typeface="Calibri"/>
              </a:rPr>
              <a:t>5 sites, 1 brake missing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phase_agent.py:77, 91, 161, 193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17736" y="2660904"/>
            <a:ext cx="1051560" cy="256032"/>
          </a:xfrm>
          <a:prstGeom prst="roundRect">
            <a:avLst>
              <a:gd name="adj" fmla="val 30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byLLM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328415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949E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328415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2027"/>
                </a:solidFill>
                <a:latin typeface="Calibri"/>
              </a:rPr>
              <a:t>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2696" y="3328415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6B66"/>
                </a:solidFill>
                <a:latin typeface="Calibri"/>
              </a:rPr>
              <a:t>2 sites, LLM picks the edge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jac:155–158, 394–400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3328415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4B8A"/>
                </a:solidFill>
                <a:latin typeface="Calibri"/>
              </a:rPr>
              <a:t>6 sites, 2 edges dead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orch.py:187, 301, 313, 321, 375, 402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7736" y="3319272"/>
            <a:ext cx="1051560" cy="256032"/>
          </a:xfrm>
          <a:prstGeom prst="roundRect">
            <a:avLst>
              <a:gd name="adj" fmla="val 30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byLLM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86783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949E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3986783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2027"/>
                </a:solidFill>
                <a:latin typeface="Calibri"/>
              </a:rPr>
              <a:t>Capability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2696" y="3986783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6B66"/>
                </a:solidFill>
                <a:latin typeface="Calibri"/>
              </a:rPr>
              <a:t>graph relation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jac:143–152, 246–251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1616" y="3986783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4B8A"/>
                </a:solidFill>
                <a:latin typeface="Calibri"/>
              </a:rPr>
              <a:t>frozen tuple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orch.py:133–162, 200–234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17736" y="3977639"/>
            <a:ext cx="1051560" cy="256032"/>
          </a:xfrm>
          <a:prstGeom prst="roundRect">
            <a:avLst>
              <a:gd name="adj" fmla="val 30000"/>
            </a:avLst>
          </a:prstGeom>
          <a:solidFill>
            <a:srgbClr val="C8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505A"/>
                </a:solidFill>
                <a:latin typeface="Calibri"/>
              </a:rPr>
              <a:t>draw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645151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949E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645151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2027"/>
                </a:solidFill>
                <a:latin typeface="Calibri"/>
              </a:rPr>
              <a:t>Phase declaration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2696" y="4645151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6B66"/>
                </a:solidFill>
                <a:latin typeface="Calibri"/>
              </a:rPr>
              <a:t>1 block / phase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jac:204–244, 340–406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1616" y="4645151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4B8A"/>
                </a:solidFill>
                <a:latin typeface="Calibri"/>
              </a:rPr>
              <a:t>3 split sites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orch.py:164–181, 205–232, 269–290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17736" y="4636007"/>
            <a:ext cx="1051560" cy="256032"/>
          </a:xfrm>
          <a:prstGeom prst="roundRect">
            <a:avLst>
              <a:gd name="adj" fmla="val 30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byLLM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3035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949E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5303519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2027"/>
                </a:solidFill>
                <a:latin typeface="Calibri"/>
              </a:rPr>
              <a:t>Run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2696" y="5303519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6B66"/>
                </a:solidFill>
                <a:latin typeface="Calibri"/>
              </a:rPr>
              <a:t>plain walker fields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jac:305–333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71616" y="5303519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4B8A"/>
                </a:solidFill>
                <a:latin typeface="Calibri"/>
              </a:rPr>
              <a:t>TypedDict + reducers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A949E"/>
                </a:solidFill>
                <a:latin typeface="Consolas"/>
              </a:rPr>
              <a:t>orch.py:237–246, 248–254, 412–423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17736" y="5294375"/>
            <a:ext cx="1051560" cy="256032"/>
          </a:xfrm>
          <a:prstGeom prst="roundRect">
            <a:avLst>
              <a:gd name="adj" fmla="val 30000"/>
            </a:avLst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byLLM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742432"/>
            <a:ext cx="11073384" cy="74980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88736"/>
            <a:ext cx="1056131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6"/>
                </a:solidFill>
                <a:latin typeface="Calibri"/>
              </a:rPr>
              <a:t>VERDICT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45505A"/>
                </a:solidFill>
                <a:latin typeface="Calibri"/>
              </a:rPr>
              <a:t>byLLM wins decisively wherever the code expresses agent logic — the ReAct loop, routing, phase declaration, state — cutting the orchestration layer by 37% while carrying more comments and one-third the framework vocabulary. The capability boundary is a draw.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949E"/>
                </a:solidFill>
                <a:latin typeface="Calibri"/>
              </a:rPr>
              <a:t>THREATS TO VALIDITY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Where LangGraph wins, and what this deck does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3385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5505A"/>
                </a:solidFill>
                <a:latin typeface="Calibri"/>
              </a:rPr>
              <a:t>Stated up front so the comparison survives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50292" cy="1234440"/>
          </a:xfrm>
          <a:prstGeom prst="rect">
            <a:avLst/>
          </a:prstGeom>
          <a:solidFill>
            <a:srgbClr val="B04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2027"/>
                </a:solidFill>
                <a:latin typeface="Calibri"/>
              </a:rPr>
              <a:t>Telemetry is byLLM's weak spot — and the same abstraction causes it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5505A"/>
                </a:solidFill>
                <a:latin typeface="Calibri"/>
              </a:rPr>
              <a:t>Because `by` hides the provider call there is no response object to read. logger/log_usage.jac hooks litellm.success_callback and then POLLS in settle() until records stop arriving (sleep 0.05, 3s deadline) — a timing heuristic that can silently undercount. Four extract_* helpers dig through untyped payloads with `any` locals. 209 lines. langgraph/telemetry.py does it in 60, synchronously, off AIMessage.usage_metadata.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337560"/>
            <a:ext cx="50292" cy="1234440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2027"/>
                </a:solidFill>
                <a:latin typeface="Calibri"/>
              </a:rPr>
              <a:t>This deck covers the orchestration layer only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5505A"/>
                </a:solidFill>
                <a:latin typeface="Calibri"/>
              </a:rPr>
              <a:t>The four tool modules are a near-literal port and read the same on both sides. byLLM's tool layer is larger because it does more (served-window loop prevention, full call transcripts), not because it is more verbose.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800600"/>
            <a:ext cx="50292" cy="1234440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2027"/>
                </a:solidFill>
                <a:latin typeface="Calibri"/>
              </a:rPr>
              <a:t>Two byLLM-side defects are documented and unfixed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5505A"/>
                </a:solidFill>
                <a:latin typeface="Calibri"/>
              </a:rPr>
              <a:t>A Jac f-string bug drops quotes around the second of two interpolations, corrupting user-facing strings at nodes/verify.jac:408 and nodes/explore.jac:221. Source that reads correctly and behaves incorrectly is worse than the reverse. set_model also needs a five-line warning comment about Jac's glob-rebinding footgun (orchestrator.jac:24–28).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566928"/>
          </a:xfrm>
          <a:prstGeom prst="rect">
            <a:avLst/>
          </a:prstGeom>
          <a:solidFill>
            <a:srgbClr val="1A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2027"/>
                </a:solidFill>
                <a:latin typeface="Calibri"/>
              </a:rPr>
              <a:t>APPENDIX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2500" b="1">
                <a:solidFill>
                  <a:srgbClr val="1A2027"/>
                </a:solidFill>
                <a:latin typeface="Calibri"/>
              </a:rPr>
              <a:t>Reproduce the diff in three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3385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5505A"/>
                </a:solidFill>
                <a:latin typeface="Calibri"/>
              </a:rPr>
              <a:t>Ordered so the argument builds: size, then clarity, then correctness.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1073384" cy="1298448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1152144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6"/>
                </a:solidFill>
                <a:latin typeface="Calibri"/>
              </a:rPr>
              <a:t>PASS 1  —  the size argument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1A2027"/>
                </a:solidFill>
                <a:latin typeface="Consolas"/>
              </a:rPr>
              <a:t>byLLM/orchestrator.jac:101–109      ⟷      langgraph/phase_agent.py  (entire file)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45505A"/>
                </a:solidFill>
                <a:latin typeface="Calibri"/>
              </a:rPr>
              <a:t>Four kwargs against a 245-line hand-built sub-graph. Read phase_agent.py top to bottom and mark which lines exist only because the framework offers no hook.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310128"/>
            <a:ext cx="11073384" cy="1298448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383280"/>
            <a:ext cx="45720" cy="1152144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56432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6"/>
                </a:solidFill>
                <a:latin typeface="Calibri"/>
              </a:rPr>
              <a:t>PASS 2  —  the clarity argument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1A2027"/>
                </a:solidFill>
                <a:latin typeface="Consolas"/>
              </a:rPr>
              <a:t>byLLM/orchestrator.jac:340–400      ⟷      langgraph/orchestrator.py:301–349, 375–388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45505A"/>
                </a:solidFill>
                <a:latin typeface="Calibri"/>
              </a:rPr>
              <a:t>The same judgement — "is the objective met?" — stated once on an edge, versus a pydantic model, a prompt constant, a classifier with a bare except, and four router closures.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91456"/>
            <a:ext cx="11073384" cy="1298448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864608"/>
            <a:ext cx="45720" cy="1152144"/>
          </a:xfrm>
          <a:prstGeom prst="rect">
            <a:avLst/>
          </a:prstGeom>
          <a:solidFill>
            <a:srgbClr val="B04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451E"/>
                </a:solidFill>
                <a:latin typeface="Calibri"/>
              </a:rPr>
              <a:t>PASS 3  —  the correctness argument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1A2027"/>
                </a:solidFill>
                <a:latin typeface="Consolas"/>
              </a:rPr>
              <a:t>byLLM/orchestrator.jac:262–303      ⟷      langgraph/orchestrator.py:187–194, 375–379, 396–408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45505A"/>
                </a:solidFill>
                <a:latin typeface="Calibri"/>
              </a:rPr>
              <a:t>Diff what FLOW declares against what the routers return. Two shortcut edges are declared and unreachable. This is the finding that turns a style comparison into a defect.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9E"/>
                </a:solidFill>
                <a:latin typeface="Calibri"/>
              </a:rPr>
              <a:t>Counts verified against the working tree · orchestration layer = byLLM/orchestrator.jac (463) vs langgraph/orchestrator.py (485) + phase_agent.py (245)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